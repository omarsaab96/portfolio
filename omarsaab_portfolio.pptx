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9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43614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Visual style reference: user-provided deck "Trupti_Product+Growth_CPGO.pptx".
- Contact details, title, profile summary, industries: https://omarsaab.net/ (web refs turn3view0 L2-L18, L52-L55, L56-L265).
- Metrics and experience details: https://omarsaab.net/omarsaab_cv.pdf (web ref turn6search1).
- Headshot image used on cover sourced from The Org profile for Omar Saab at Born Interactive: https://theorg.com/org/born-interactive/org-chart/omar-saab (web ref turn14image1).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Visual structure inspired by the user-provided deck "Trupti_Product+Growth_CPGO.pptx".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Divider styling inspired by the user-provided deck "Trupti_Product+Growth_CPGO.pptx".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Framing adapted to CTO responsibilities requested by the user.
- Supporting profile evidence from https://omarsaab.net/ (turn3view0 L15-L18) and https://omarsaab.net/omarsaab_cv.pdf (turn6search1).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 requested a deck that showcases CTO suitability rather than specific projects.
- Positioning supported by Omar Saab profile summary and cross-functional delivery evidence: turn3view0 L15-L18; turn6search1.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Divider styling inspired by the user-provided deck "Trupti_Product+Growth_CPGO.pptx".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Technical stack and expertise from CV: https://omarsaab.net/omarsaab_cv.pdf (turn6search1).
- Portfolio summary from https://omarsaab.net/ (turn3view0 L15-L18).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72C94-6F7B-289D-7F0E-D5252F1D8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F6C3E5-A182-B551-7A18-923B2C9ADB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297138-6D93-A35F-3842-730CA2ECC5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Technical stack and expertise from CV: https://omarsaab.net/omarsaab_cv.pdf (turn6search1).
- Portfolio summary from https://omarsaab.net/ (turn3view0 L15-L18).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685916-8A29-C54A-1673-880EC3E303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9922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Mentoring and cross-functional evidence from CV: turn6search1.
- Industry breadth from portfolio categories on https://omarsaab.net/ (turn3view0 L52-L55, L56-L265).
- Education and languages from CV: turn6search1.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Divider styling inspired by the user-provided deck "Trupti_Product+Growth_CPGO.pptx".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Operating model is a strategic synthesis created for this deck based on the user request and Omar Saab's end-to-end delivery background documented in turn6search1 and turn3view0 L15-L18.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Metrics, mentoring, experience, education, and languages sourced from CV: https://omarsaab.net/omarsaab_cv.pdf (turn6search1).
- Industry breadth sourced from https://omarsaab.net/ (turn3view0 L52-L55, L56-L265).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Contact details from https://omarsaab.net/ (turn3view0 L2-L10).
- Headshot image on this slide sourced from The Org profile for Omar Saab at Born Interactive: https://theorg.com/org/born-interactive/org-chart/omar-saab (turn14image1).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Contact details from https://omarsaab.net/ (turn3view0 L2-L10).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_wide_abstract_futuristic_technology_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736">
              <a:alpha val="78000"/>
            </a:srgbClr>
          </a:solidFill>
          <a:ln w="12700">
            <a:solidFill>
              <a:srgbClr val="04173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2648" y="1069848"/>
            <a:ext cx="2295144" cy="2295144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6" name="Text 2"/>
          <p:cNvSpPr/>
          <p:nvPr/>
        </p:nvSpPr>
        <p:spPr>
          <a:xfrm>
            <a:off x="3383280" y="13258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Omar Saab</a:t>
            </a:r>
            <a:endParaRPr lang="en-US" sz="4800" dirty="0"/>
          </a:p>
        </p:txBody>
      </p:sp>
      <p:sp>
        <p:nvSpPr>
          <p:cNvPr id="7" name="Shape 3"/>
          <p:cNvSpPr/>
          <p:nvPr/>
        </p:nvSpPr>
        <p:spPr>
          <a:xfrm>
            <a:off x="3410712" y="1912031"/>
            <a:ext cx="1600200" cy="27432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3383280" y="196596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6EDF8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CTO Portfolio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3383280" y="24231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0" dirty="0">
                <a:solidFill>
                  <a:srgbClr val="E6EDF8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Technology strategy, scalable architecture, and hands-on execution for companies that need a builder who can also lead.</a:t>
            </a:r>
            <a:endParaRPr lang="en-US" sz="1420" dirty="0"/>
          </a:p>
        </p:txBody>
      </p:sp>
      <p:sp>
        <p:nvSpPr>
          <p:cNvPr id="10" name="Shape 6"/>
          <p:cNvSpPr/>
          <p:nvPr/>
        </p:nvSpPr>
        <p:spPr>
          <a:xfrm>
            <a:off x="3383280" y="3749040"/>
            <a:ext cx="1783080" cy="822960"/>
          </a:xfrm>
          <a:prstGeom prst="roundRect">
            <a:avLst>
              <a:gd name="adj" fmla="val 1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3493008" y="3822192"/>
            <a:ext cx="1563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7+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3493008" y="4133088"/>
            <a:ext cx="1563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E8EEF8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Years in software &amp; digital delivery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303520" y="3749040"/>
            <a:ext cx="1783080" cy="822960"/>
          </a:xfrm>
          <a:prstGeom prst="roundRect">
            <a:avLst>
              <a:gd name="adj" fmla="val 1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5413248" y="3822192"/>
            <a:ext cx="1563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120+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5413248" y="4133088"/>
            <a:ext cx="1563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E8EEF8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Websites &amp; applications delivered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7223760" y="3749040"/>
            <a:ext cx="1938528" cy="822960"/>
          </a:xfrm>
          <a:prstGeom prst="roundRect">
            <a:avLst>
              <a:gd name="adj" fmla="val 1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7333488" y="382219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10,000+</a:t>
            </a:r>
            <a:endParaRPr lang="en-US" sz="2000" dirty="0"/>
          </a:p>
        </p:txBody>
      </p:sp>
      <p:sp>
        <p:nvSpPr>
          <p:cNvPr id="18" name="Text 14"/>
          <p:cNvSpPr/>
          <p:nvPr/>
        </p:nvSpPr>
        <p:spPr>
          <a:xfrm>
            <a:off x="7333488" y="4133088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E8EEF8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Concurrent-user infrastructure exposure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9308592" y="3749040"/>
            <a:ext cx="1783080" cy="822960"/>
          </a:xfrm>
          <a:prstGeom prst="roundRect">
            <a:avLst>
              <a:gd name="adj" fmla="val 1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9418320" y="3822192"/>
            <a:ext cx="1563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500+</a:t>
            </a:r>
            <a:endParaRPr lang="en-US" sz="2000" dirty="0"/>
          </a:p>
        </p:txBody>
      </p:sp>
      <p:sp>
        <p:nvSpPr>
          <p:cNvPr id="21" name="Text 17"/>
          <p:cNvSpPr/>
          <p:nvPr/>
        </p:nvSpPr>
        <p:spPr>
          <a:xfrm>
            <a:off x="9418320" y="4133088"/>
            <a:ext cx="1563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E8EEF8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Requests / second API exposure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3383280" y="4917789"/>
            <a:ext cx="7708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DE8FA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BANKING • HEALTHCARE • LOGISTICS • RETAIL • AVIATION • EDUCATION • PUBLIC SECTOR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3383280" y="5504688"/>
            <a:ext cx="7708392" cy="676656"/>
          </a:xfrm>
          <a:prstGeom prst="roundRect">
            <a:avLst>
              <a:gd name="adj" fmla="val 1081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 anchor="ctr"/>
          <a:lstStyle/>
          <a:p>
            <a:pPr algn="ctr"/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3611880" y="5742432"/>
            <a:ext cx="6903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omarsaab.net   |   omar.saab.96@gmail.com   |   +961 70 433863   |   linkedin.com/in/omarsaab96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02920" y="22860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Table of contents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10817352" y="201168"/>
            <a:ext cx="475488" cy="73152"/>
          </a:xfrm>
          <a:prstGeom prst="roundRect">
            <a:avLst>
              <a:gd name="adj" fmla="val 37500"/>
            </a:avLst>
          </a:prstGeom>
          <a:solidFill>
            <a:srgbClr val="0B0B0B"/>
          </a:solidFill>
          <a:ln w="12700">
            <a:solidFill>
              <a:srgbClr val="0B0B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6547104"/>
            <a:ext cx="11137392" cy="27432"/>
          </a:xfrm>
          <a:prstGeom prst="roundRect">
            <a:avLst>
              <a:gd name="adj" fmla="val 33333"/>
            </a:avLst>
          </a:prstGeom>
          <a:solidFill>
            <a:srgbClr val="D6943C"/>
          </a:solidFill>
          <a:ln w="12700">
            <a:solidFill>
              <a:srgbClr val="D694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389888" y="1234440"/>
            <a:ext cx="4572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b="1" i="1" dirty="0">
                <a:solidFill>
                  <a:srgbClr val="041736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1.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F1F1F"/>
                </a:solidFill>
                <a:effectLst/>
                <a:uLnTx/>
                <a:uFillTx/>
                <a:latin typeface="Akatab" pitchFamily="34" charset="0"/>
                <a:ea typeface="Akatab" pitchFamily="34" charset="-122"/>
                <a:cs typeface="Akatab" pitchFamily="34" charset="-120"/>
              </a:rPr>
              <a:t>The CTO Mandate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389887" y="1713286"/>
            <a:ext cx="3909900" cy="426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i="1" dirty="0">
                <a:solidFill>
                  <a:srgbClr val="041736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2. </a:t>
            </a:r>
            <a:r>
              <a:rPr lang="en-US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Why a CTO Is Needed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389887" y="2331813"/>
            <a:ext cx="36486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i="1" dirty="0">
                <a:solidFill>
                  <a:srgbClr val="041736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3. </a:t>
            </a:r>
            <a:r>
              <a:rPr lang="en-US" sz="200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My Expertise &amp; Capabilities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389888" y="2871121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i="1" dirty="0">
                <a:solidFill>
                  <a:srgbClr val="041736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4. </a:t>
            </a:r>
            <a:r>
              <a:rPr lang="en-US" sz="200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How I Operate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89888" y="3355848"/>
            <a:ext cx="3984545" cy="347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i="1" dirty="0">
                <a:solidFill>
                  <a:srgbClr val="041736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5. </a:t>
            </a:r>
            <a:r>
              <a:rPr lang="en-US" sz="200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Executive Evidence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389887" y="3818365"/>
            <a:ext cx="3452700" cy="426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i="1" dirty="0">
                <a:solidFill>
                  <a:srgbClr val="041736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6. </a:t>
            </a:r>
            <a:r>
              <a:rPr lang="en-US" sz="200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Contact &amp; Closing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_full_screen_ultra_high_resolution_abstract_f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736">
              <a:alpha val="70000"/>
            </a:srgbClr>
          </a:solidFill>
          <a:ln w="12700">
            <a:solidFill>
              <a:srgbClr val="04173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5413248" y="292608"/>
            <a:ext cx="384048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11475720" y="2057400"/>
            <a:ext cx="45720" cy="475488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914400" y="20574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1. The CTO Mandate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What Does a CTO Own?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10817352" y="201168"/>
            <a:ext cx="475488" cy="73152"/>
          </a:xfrm>
          <a:prstGeom prst="roundRect">
            <a:avLst>
              <a:gd name="adj" fmla="val 37500"/>
            </a:avLst>
          </a:prstGeom>
          <a:solidFill>
            <a:srgbClr val="0B0B0B"/>
          </a:solidFill>
          <a:ln w="12700">
            <a:solidFill>
              <a:srgbClr val="0B0B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6547104"/>
            <a:ext cx="11137392" cy="27432"/>
          </a:xfrm>
          <a:prstGeom prst="roundRect">
            <a:avLst>
              <a:gd name="adj" fmla="val 33333"/>
            </a:avLst>
          </a:prstGeom>
          <a:solidFill>
            <a:srgbClr val="D6943C"/>
          </a:solidFill>
          <a:ln w="12700">
            <a:solidFill>
              <a:srgbClr val="D694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49808" y="1170432"/>
            <a:ext cx="340156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8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49808" y="1170432"/>
            <a:ext cx="3401568" cy="118872"/>
          </a:xfrm>
          <a:prstGeom prst="rect">
            <a:avLst/>
          </a:prstGeom>
          <a:solidFill>
            <a:srgbClr val="173F73"/>
          </a:solidFill>
          <a:ln w="12700">
            <a:solidFill>
              <a:srgbClr val="173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41248" y="1371600"/>
            <a:ext cx="3218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Strategy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96112" y="160934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dirty="0">
                <a:solidFill>
                  <a:srgbClr val="5F6875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Business-aligned technology vision, roadmap choices, and prioritization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4398264" y="1170432"/>
            <a:ext cx="340156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8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398264" y="1170432"/>
            <a:ext cx="3401568" cy="118872"/>
          </a:xfrm>
          <a:prstGeom prst="rect">
            <a:avLst/>
          </a:prstGeom>
          <a:solidFill>
            <a:srgbClr val="0B2C5D"/>
          </a:solidFill>
          <a:ln w="12700">
            <a:solidFill>
              <a:srgbClr val="0B2C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489704" y="1371600"/>
            <a:ext cx="3218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Architecture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44568" y="160934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dirty="0">
                <a:solidFill>
                  <a:srgbClr val="5F6875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Scalable systems, integration patterns, and platform direction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8046720" y="1170432"/>
            <a:ext cx="340156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8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046720" y="1170432"/>
            <a:ext cx="3401568" cy="118872"/>
          </a:xfrm>
          <a:prstGeom prst="rect">
            <a:avLst/>
          </a:prstGeom>
          <a:solidFill>
            <a:srgbClr val="D6943C"/>
          </a:solidFill>
          <a:ln w="12700">
            <a:solidFill>
              <a:srgbClr val="D694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138160" y="1371600"/>
            <a:ext cx="3218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People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93024" y="160934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dirty="0">
                <a:solidFill>
                  <a:srgbClr val="5F6875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Hiring, mentoring, standards, and engineering culture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749808" y="3858768"/>
            <a:ext cx="340156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8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49808" y="3858768"/>
            <a:ext cx="3401568" cy="118872"/>
          </a:xfrm>
          <a:prstGeom prst="rect">
            <a:avLst/>
          </a:prstGeom>
          <a:solidFill>
            <a:srgbClr val="173F73"/>
          </a:solidFill>
          <a:ln w="12700">
            <a:solidFill>
              <a:srgbClr val="173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41248" y="4059936"/>
            <a:ext cx="3218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Data &amp; AI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96112" y="429768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dirty="0">
                <a:solidFill>
                  <a:srgbClr val="5F6875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Instrumentation, analytics, automation, and decision support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4398264" y="3858768"/>
            <a:ext cx="340156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8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398264" y="3858768"/>
            <a:ext cx="3401568" cy="118872"/>
          </a:xfrm>
          <a:prstGeom prst="rect">
            <a:avLst/>
          </a:prstGeom>
          <a:solidFill>
            <a:srgbClr val="0B2C5D"/>
          </a:solidFill>
          <a:ln w="12700">
            <a:solidFill>
              <a:srgbClr val="0B2C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489704" y="4059936"/>
            <a:ext cx="3218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Security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44568" y="429768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dirty="0">
                <a:solidFill>
                  <a:srgbClr val="5F6875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Reliability, access control, resilience, and risk management</a:t>
            </a:r>
            <a:endParaRPr lang="en-US" sz="1020" dirty="0"/>
          </a:p>
        </p:txBody>
      </p:sp>
      <p:sp>
        <p:nvSpPr>
          <p:cNvPr id="26" name="Shape 24"/>
          <p:cNvSpPr/>
          <p:nvPr/>
        </p:nvSpPr>
        <p:spPr>
          <a:xfrm>
            <a:off x="8046720" y="3858768"/>
            <a:ext cx="340156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8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046720" y="3858768"/>
            <a:ext cx="3401568" cy="118872"/>
          </a:xfrm>
          <a:prstGeom prst="rect">
            <a:avLst/>
          </a:prstGeom>
          <a:solidFill>
            <a:srgbClr val="D6943C"/>
          </a:solidFill>
          <a:ln w="12700">
            <a:solidFill>
              <a:srgbClr val="D694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138160" y="4059936"/>
            <a:ext cx="3218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Execution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193024" y="429768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dirty="0">
                <a:solidFill>
                  <a:srgbClr val="5F6875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Cadence, governance, delivery confidence, and accountability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1993392" y="2404872"/>
            <a:ext cx="8211312" cy="9144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3970">
            <a:solidFill>
              <a:srgbClr val="0B2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572000" y="2615184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41736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CTO mandate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2331720" y="2852928"/>
            <a:ext cx="7534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10" dirty="0">
                <a:solidFill>
                  <a:srgbClr val="5F6875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Turn technology into a durable business advantage by aligning product, platform, and people around scalable execution.</a:t>
            </a:r>
            <a:endParaRPr lang="en-US" sz="1110" dirty="0"/>
          </a:p>
        </p:txBody>
      </p:sp>
      <p:sp>
        <p:nvSpPr>
          <p:cNvPr id="33" name="Text 31"/>
          <p:cNvSpPr/>
          <p:nvPr/>
        </p:nvSpPr>
        <p:spPr>
          <a:xfrm>
            <a:off x="1188720" y="5303520"/>
            <a:ext cx="97840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40" dirty="0">
                <a:solidFill>
                  <a:srgbClr val="5F6875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A strong CTO creates clarity across business priorities, technical decisions, and delivery discipline — not just code.</a:t>
            </a:r>
            <a:endParaRPr lang="en-US" sz="11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Why a CTO Is Needed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10817352" y="201168"/>
            <a:ext cx="475488" cy="73152"/>
          </a:xfrm>
          <a:prstGeom prst="roundRect">
            <a:avLst>
              <a:gd name="adj" fmla="val 37500"/>
            </a:avLst>
          </a:prstGeom>
          <a:solidFill>
            <a:srgbClr val="0B0B0B"/>
          </a:solidFill>
          <a:ln w="12700">
            <a:solidFill>
              <a:srgbClr val="0B0B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6547104"/>
            <a:ext cx="11137392" cy="27432"/>
          </a:xfrm>
          <a:prstGeom prst="roundRect">
            <a:avLst>
              <a:gd name="adj" fmla="val 33333"/>
            </a:avLst>
          </a:prstGeom>
          <a:solidFill>
            <a:srgbClr val="D6943C"/>
          </a:solidFill>
          <a:ln w="12700">
            <a:solidFill>
              <a:srgbClr val="D694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58368" y="1078992"/>
            <a:ext cx="3566160" cy="658368"/>
          </a:xfrm>
          <a:prstGeom prst="rect">
            <a:avLst/>
          </a:prstGeom>
          <a:solidFill>
            <a:srgbClr val="173F73"/>
          </a:solidFill>
          <a:ln w="12700">
            <a:solidFill>
              <a:srgbClr val="173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1188720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Align technology with business goals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58368" y="1737360"/>
            <a:ext cx="3566160" cy="1856232"/>
          </a:xfrm>
          <a:prstGeom prst="rect">
            <a:avLst/>
          </a:prstGeom>
          <a:solidFill>
            <a:srgbClr val="F6F8FB"/>
          </a:solidFill>
          <a:ln w="10160">
            <a:solidFill>
              <a:srgbClr val="D8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68096" y="1883664"/>
            <a:ext cx="3346704" cy="15910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Translate company vision into an executable technical roadmap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Prioritize architecture, budget, platform, and build-vs-buy choices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Keep technology tied to growth, efficiency, and customer value</a:t>
            </a:r>
            <a:endParaRPr lang="en-US" sz="1140" dirty="0"/>
          </a:p>
        </p:txBody>
      </p:sp>
      <p:sp>
        <p:nvSpPr>
          <p:cNvPr id="10" name="Shape 8"/>
          <p:cNvSpPr/>
          <p:nvPr/>
        </p:nvSpPr>
        <p:spPr>
          <a:xfrm>
            <a:off x="4315968" y="1078992"/>
            <a:ext cx="3566160" cy="658368"/>
          </a:xfrm>
          <a:prstGeom prst="rect">
            <a:avLst/>
          </a:prstGeom>
          <a:solidFill>
            <a:srgbClr val="0B2C5D"/>
          </a:solidFill>
          <a:ln w="12700">
            <a:solidFill>
              <a:srgbClr val="0B2C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89120" y="1188720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Build systems that can scale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15968" y="1737360"/>
            <a:ext cx="3566160" cy="1856232"/>
          </a:xfrm>
          <a:prstGeom prst="rect">
            <a:avLst/>
          </a:prstGeom>
          <a:solidFill>
            <a:srgbClr val="F6F8FB"/>
          </a:solidFill>
          <a:ln w="10160">
            <a:solidFill>
              <a:srgbClr val="D8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425696" y="1883664"/>
            <a:ext cx="3346704" cy="15910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Architect for performance, security, maintainability, and expansion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Reduce technical debt while preserving delivery speed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Introduce engineering discipline, observability, and quality gates</a:t>
            </a:r>
            <a:endParaRPr lang="en-US" sz="1140" dirty="0"/>
          </a:p>
        </p:txBody>
      </p:sp>
      <p:sp>
        <p:nvSpPr>
          <p:cNvPr id="14" name="Shape 12"/>
          <p:cNvSpPr/>
          <p:nvPr/>
        </p:nvSpPr>
        <p:spPr>
          <a:xfrm>
            <a:off x="7973568" y="1078992"/>
            <a:ext cx="3566160" cy="658368"/>
          </a:xfrm>
          <a:prstGeom prst="rect">
            <a:avLst/>
          </a:prstGeom>
          <a:solidFill>
            <a:srgbClr val="D6943C"/>
          </a:solidFill>
          <a:ln w="12700">
            <a:solidFill>
              <a:srgbClr val="D694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046720" y="1188720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Lead people and execution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973568" y="1737360"/>
            <a:ext cx="3566160" cy="1856232"/>
          </a:xfrm>
          <a:prstGeom prst="rect">
            <a:avLst/>
          </a:prstGeom>
          <a:solidFill>
            <a:srgbClr val="F6F8FB"/>
          </a:solidFill>
          <a:ln w="10160">
            <a:solidFill>
              <a:srgbClr val="D8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083296" y="1883664"/>
            <a:ext cx="3346704" cy="15910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Raise technical quality through standards, mentoring, and review culture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Create accountability for timelines, outcomes, and ownership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Partner with founders, product, design, and operations</a:t>
            </a:r>
            <a:endParaRPr lang="en-US" sz="1140" dirty="0"/>
          </a:p>
        </p:txBody>
      </p:sp>
      <p:sp>
        <p:nvSpPr>
          <p:cNvPr id="18" name="Shape 16"/>
          <p:cNvSpPr/>
          <p:nvPr/>
        </p:nvSpPr>
        <p:spPr>
          <a:xfrm>
            <a:off x="822960" y="4206240"/>
            <a:ext cx="10561320" cy="1298448"/>
          </a:xfrm>
          <a:prstGeom prst="roundRect">
            <a:avLst>
              <a:gd name="adj" fmla="val 4225"/>
            </a:avLst>
          </a:prstGeom>
          <a:solidFill>
            <a:srgbClr val="FBFCFE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657600" y="4379976"/>
            <a:ext cx="4937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40" b="1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Where I add the most value as a CTO profile</a:t>
            </a:r>
            <a:endParaRPr lang="en-US" sz="1440" dirty="0"/>
          </a:p>
        </p:txBody>
      </p:sp>
      <p:sp>
        <p:nvSpPr>
          <p:cNvPr id="20" name="Text 18"/>
          <p:cNvSpPr/>
          <p:nvPr/>
        </p:nvSpPr>
        <p:spPr>
          <a:xfrm>
            <a:off x="1143000" y="4709160"/>
            <a:ext cx="992124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13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Founder-led or growth-stage companies that need stronger technical direction</a:t>
            </a:r>
            <a:endParaRPr lang="en-US" sz="1130" dirty="0"/>
          </a:p>
          <a:p>
            <a:pPr marL="0" indent="0">
              <a:buNone/>
            </a:pPr>
            <a:r>
              <a:rPr lang="en-US" sz="113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Organizations modernizing legacy systems without slowing down delivery</a:t>
            </a:r>
            <a:endParaRPr lang="en-US" sz="1130" dirty="0"/>
          </a:p>
          <a:p>
            <a:pPr marL="0" indent="0">
              <a:buNone/>
            </a:pPr>
            <a:r>
              <a:rPr lang="en-US" sz="113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Product teams that need tighter alignment between architecture, engineering, and outcomes</a:t>
            </a:r>
            <a:endParaRPr lang="en-US" sz="1130" dirty="0"/>
          </a:p>
          <a:p>
            <a:pPr marL="0" indent="0">
              <a:buNone/>
            </a:pPr>
            <a:r>
              <a:rPr lang="en-US" sz="113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Businesses moving from freelance/vendor execution to a true engineering operating model</a:t>
            </a:r>
            <a:endParaRPr lang="en-US" sz="11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_full_screen_ultra_high_resolution_abstract_f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736">
              <a:alpha val="70000"/>
            </a:srgbClr>
          </a:solidFill>
          <a:ln w="12700">
            <a:solidFill>
              <a:srgbClr val="04173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5413248" y="292608"/>
            <a:ext cx="384048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11475720" y="2057400"/>
            <a:ext cx="45720" cy="475488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914400" y="20574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2. My Expertise &amp; Capabilities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Expertise &amp; Capabilities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10817352" y="201168"/>
            <a:ext cx="475488" cy="73152"/>
          </a:xfrm>
          <a:prstGeom prst="roundRect">
            <a:avLst>
              <a:gd name="adj" fmla="val 37500"/>
            </a:avLst>
          </a:prstGeom>
          <a:solidFill>
            <a:srgbClr val="0B0B0B"/>
          </a:solidFill>
          <a:ln w="12700">
            <a:solidFill>
              <a:srgbClr val="0B0B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6547104"/>
            <a:ext cx="11137392" cy="27432"/>
          </a:xfrm>
          <a:prstGeom prst="roundRect">
            <a:avLst>
              <a:gd name="adj" fmla="val 33333"/>
            </a:avLst>
          </a:prstGeom>
          <a:solidFill>
            <a:srgbClr val="D6943C"/>
          </a:solidFill>
          <a:ln w="12700">
            <a:solidFill>
              <a:srgbClr val="D694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58368" y="1051560"/>
            <a:ext cx="3547872" cy="658368"/>
          </a:xfrm>
          <a:prstGeom prst="rect">
            <a:avLst/>
          </a:prstGeom>
          <a:solidFill>
            <a:srgbClr val="173F73"/>
          </a:solidFill>
          <a:ln w="12700">
            <a:solidFill>
              <a:srgbClr val="173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1161288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Technology Strategy &amp; Architecture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58368" y="1709928"/>
            <a:ext cx="3547872" cy="1856232"/>
          </a:xfrm>
          <a:prstGeom prst="rect">
            <a:avLst/>
          </a:prstGeom>
          <a:solidFill>
            <a:srgbClr val="F6F8FB"/>
          </a:solidFill>
          <a:ln w="10160">
            <a:solidFill>
              <a:srgbClr val="D8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68096" y="1856232"/>
            <a:ext cx="3328416" cy="15910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Technical vision, target-state planning, and roadmap thinking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System design, modular architecture, APIs, and integrations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Build-vs-buy evaluation and modernization tradeoffs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Future-proof thinking across web, platforms, and enterprise systems</a:t>
            </a:r>
            <a:endParaRPr lang="en-US" sz="1140" dirty="0"/>
          </a:p>
        </p:txBody>
      </p:sp>
      <p:sp>
        <p:nvSpPr>
          <p:cNvPr id="10" name="Shape 8"/>
          <p:cNvSpPr/>
          <p:nvPr/>
        </p:nvSpPr>
        <p:spPr>
          <a:xfrm>
            <a:off x="4325112" y="1051560"/>
            <a:ext cx="3547872" cy="658368"/>
          </a:xfrm>
          <a:prstGeom prst="rect">
            <a:avLst/>
          </a:prstGeom>
          <a:solidFill>
            <a:srgbClr val="0B2C5D"/>
          </a:solidFill>
          <a:ln w="12700">
            <a:solidFill>
              <a:srgbClr val="0B2C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98264" y="1161288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Platform Engineering &amp; Delivery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25112" y="1709928"/>
            <a:ext cx="3547872" cy="1856232"/>
          </a:xfrm>
          <a:prstGeom prst="rect">
            <a:avLst/>
          </a:prstGeom>
          <a:solidFill>
            <a:srgbClr val="F6F8FB"/>
          </a:solidFill>
          <a:ln w="10160">
            <a:solidFill>
              <a:srgbClr val="D8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434840" y="1856232"/>
            <a:ext cx="3328416" cy="15910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Frontend and backend development across modern JavaScript stacks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Release discipline, maintainable code, and lifecycle ownership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Performance optimization and user experience awareness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Hands-on delivery from concept through deployment</a:t>
            </a:r>
            <a:endParaRPr lang="en-US" sz="1140" dirty="0"/>
          </a:p>
        </p:txBody>
      </p:sp>
      <p:sp>
        <p:nvSpPr>
          <p:cNvPr id="14" name="Shape 12"/>
          <p:cNvSpPr/>
          <p:nvPr/>
        </p:nvSpPr>
        <p:spPr>
          <a:xfrm>
            <a:off x="7991856" y="1051560"/>
            <a:ext cx="3547872" cy="658368"/>
          </a:xfrm>
          <a:prstGeom prst="rect">
            <a:avLst/>
          </a:prstGeom>
          <a:solidFill>
            <a:srgbClr val="D6943C"/>
          </a:solidFill>
          <a:ln w="12700">
            <a:solidFill>
              <a:srgbClr val="D694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065008" y="1161288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Data, Security &amp; Scale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991856" y="1709928"/>
            <a:ext cx="3547872" cy="1856232"/>
          </a:xfrm>
          <a:prstGeom prst="rect">
            <a:avLst/>
          </a:prstGeom>
          <a:solidFill>
            <a:srgbClr val="F6F8FB"/>
          </a:solidFill>
          <a:ln w="10160">
            <a:solidFill>
              <a:srgbClr val="D8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101584" y="1856232"/>
            <a:ext cx="3328416" cy="15910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Dashboards, instrumentation, and metrics-driven decision support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High-throughput APIs and scalable back-end infrastructure exposure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Access control, security-minded implementation, and data protection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Operational thinking for resilience, uptime, and scale</a:t>
            </a:r>
            <a:endParaRPr lang="en-US" sz="1140" dirty="0"/>
          </a:p>
        </p:txBody>
      </p:sp>
      <p:sp>
        <p:nvSpPr>
          <p:cNvPr id="18" name="Text 16"/>
          <p:cNvSpPr/>
          <p:nvPr/>
        </p:nvSpPr>
        <p:spPr>
          <a:xfrm>
            <a:off x="896112" y="434340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30" b="1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Core technologies called out in the CV and portfolio</a:t>
            </a:r>
            <a:endParaRPr lang="en-US" sz="1230" dirty="0"/>
          </a:p>
        </p:txBody>
      </p:sp>
      <p:sp>
        <p:nvSpPr>
          <p:cNvPr id="19" name="Shape 17"/>
          <p:cNvSpPr/>
          <p:nvPr/>
        </p:nvSpPr>
        <p:spPr>
          <a:xfrm>
            <a:off x="896112" y="4663440"/>
            <a:ext cx="640080" cy="310896"/>
          </a:xfrm>
          <a:prstGeom prst="roundRect">
            <a:avLst>
              <a:gd name="adj" fmla="val 23529"/>
            </a:avLst>
          </a:prstGeom>
          <a:solidFill>
            <a:srgbClr val="F2F6FC"/>
          </a:solidFill>
          <a:ln w="10160">
            <a:solidFill>
              <a:srgbClr val="BFD2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32688" y="4718304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3F73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React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645920" y="4663440"/>
            <a:ext cx="804672" cy="310896"/>
          </a:xfrm>
          <a:prstGeom prst="roundRect">
            <a:avLst>
              <a:gd name="adj" fmla="val 23529"/>
            </a:avLst>
          </a:prstGeom>
          <a:solidFill>
            <a:srgbClr val="F2F6FC"/>
          </a:solidFill>
          <a:ln w="10160">
            <a:solidFill>
              <a:srgbClr val="BFD2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682496" y="471830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3F73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Angular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560320" y="4663440"/>
            <a:ext cx="658368" cy="310896"/>
          </a:xfrm>
          <a:prstGeom prst="roundRect">
            <a:avLst>
              <a:gd name="adj" fmla="val 23529"/>
            </a:avLst>
          </a:prstGeom>
          <a:solidFill>
            <a:srgbClr val="F2F6FC"/>
          </a:solidFill>
          <a:ln w="10160">
            <a:solidFill>
              <a:srgbClr val="BFD2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596896" y="4718304"/>
            <a:ext cx="585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3F73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Vue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328416" y="4663440"/>
            <a:ext cx="822960" cy="310896"/>
          </a:xfrm>
          <a:prstGeom prst="roundRect">
            <a:avLst>
              <a:gd name="adj" fmla="val 23529"/>
            </a:avLst>
          </a:prstGeom>
          <a:solidFill>
            <a:srgbClr val="F2F6FC"/>
          </a:solidFill>
          <a:ln w="10160">
            <a:solidFill>
              <a:srgbClr val="BFD2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364992" y="4718304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3F73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Next.js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261104" y="4663440"/>
            <a:ext cx="804672" cy="310896"/>
          </a:xfrm>
          <a:prstGeom prst="roundRect">
            <a:avLst>
              <a:gd name="adj" fmla="val 23529"/>
            </a:avLst>
          </a:prstGeom>
          <a:solidFill>
            <a:srgbClr val="F2F6FC"/>
          </a:solidFill>
          <a:ln w="10160">
            <a:solidFill>
              <a:srgbClr val="BFD2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297680" y="471830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3F73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Node.js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175504" y="4663440"/>
            <a:ext cx="749808" cy="310896"/>
          </a:xfrm>
          <a:prstGeom prst="roundRect">
            <a:avLst>
              <a:gd name="adj" fmla="val 23529"/>
            </a:avLst>
          </a:prstGeom>
          <a:solidFill>
            <a:srgbClr val="F2F6FC"/>
          </a:solidFill>
          <a:ln w="10160">
            <a:solidFill>
              <a:srgbClr val="BFD2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212080" y="4718304"/>
            <a:ext cx="676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3F73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Express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035040" y="4663440"/>
            <a:ext cx="777240" cy="310896"/>
          </a:xfrm>
          <a:prstGeom prst="roundRect">
            <a:avLst>
              <a:gd name="adj" fmla="val 23529"/>
            </a:avLst>
          </a:prstGeom>
          <a:solidFill>
            <a:srgbClr val="F2F6FC"/>
          </a:solidFill>
          <a:ln w="10160">
            <a:solidFill>
              <a:srgbClr val="BFD2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071616" y="4718304"/>
            <a:ext cx="7040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3F73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Laravel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922008" y="4663440"/>
            <a:ext cx="868680" cy="310896"/>
          </a:xfrm>
          <a:prstGeom prst="roundRect">
            <a:avLst>
              <a:gd name="adj" fmla="val 23529"/>
            </a:avLst>
          </a:prstGeom>
          <a:solidFill>
            <a:srgbClr val="F2F6FC"/>
          </a:solidFill>
          <a:ln w="10160">
            <a:solidFill>
              <a:srgbClr val="BFD2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958584" y="4718304"/>
            <a:ext cx="795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3F73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REST APIs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96112" y="5084064"/>
            <a:ext cx="896112" cy="310896"/>
          </a:xfrm>
          <a:prstGeom prst="roundRect">
            <a:avLst>
              <a:gd name="adj" fmla="val 23529"/>
            </a:avLst>
          </a:prstGeom>
          <a:solidFill>
            <a:srgbClr val="F2F6FC"/>
          </a:solidFill>
          <a:ln w="10160">
            <a:solidFill>
              <a:srgbClr val="BFD2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932688" y="513892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3F73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SQL / MySQL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901952" y="5084064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F2F6FC"/>
          </a:solidFill>
          <a:ln w="10160">
            <a:solidFill>
              <a:srgbClr val="BFD2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1938528" y="51389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3F73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TypeScript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852928" y="5084064"/>
            <a:ext cx="786384" cy="310896"/>
          </a:xfrm>
          <a:prstGeom prst="roundRect">
            <a:avLst>
              <a:gd name="adj" fmla="val 23529"/>
            </a:avLst>
          </a:prstGeom>
          <a:solidFill>
            <a:srgbClr val="F2F6FC"/>
          </a:solidFill>
          <a:ln w="10160">
            <a:solidFill>
              <a:srgbClr val="BFD2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2889504" y="513892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3F73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Tailwind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749040" y="5084064"/>
            <a:ext cx="512064" cy="310896"/>
          </a:xfrm>
          <a:prstGeom prst="roundRect">
            <a:avLst>
              <a:gd name="adj" fmla="val 23529"/>
            </a:avLst>
          </a:prstGeom>
          <a:solidFill>
            <a:srgbClr val="F2F6FC"/>
          </a:solidFill>
          <a:ln w="10160">
            <a:solidFill>
              <a:srgbClr val="BFD2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785616" y="5138928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73F73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Git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119104-12BC-EBD4-6005-A8A1447B5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5F16DEF7-BD78-0414-EEB5-00B1F38FCE01}"/>
              </a:ext>
            </a:extLst>
          </p:cNvPr>
          <p:cNvSpPr/>
          <p:nvPr/>
        </p:nvSpPr>
        <p:spPr>
          <a:xfrm>
            <a:off x="502920" y="22860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Core technologies called out in the CV and portfolio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F9B586E-1CAA-3391-F8A7-F5CDF35541AF}"/>
              </a:ext>
            </a:extLst>
          </p:cNvPr>
          <p:cNvSpPr/>
          <p:nvPr/>
        </p:nvSpPr>
        <p:spPr>
          <a:xfrm>
            <a:off x="10817352" y="201168"/>
            <a:ext cx="475488" cy="73152"/>
          </a:xfrm>
          <a:prstGeom prst="roundRect">
            <a:avLst>
              <a:gd name="adj" fmla="val 37500"/>
            </a:avLst>
          </a:prstGeom>
          <a:solidFill>
            <a:srgbClr val="0B0B0B"/>
          </a:solidFill>
          <a:ln w="12700">
            <a:solidFill>
              <a:srgbClr val="0B0B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C8B09DE-FA5B-2C33-8522-3DC5FB17845D}"/>
              </a:ext>
            </a:extLst>
          </p:cNvPr>
          <p:cNvSpPr/>
          <p:nvPr/>
        </p:nvSpPr>
        <p:spPr>
          <a:xfrm>
            <a:off x="388794" y="5837638"/>
            <a:ext cx="11137392" cy="27432"/>
          </a:xfrm>
          <a:prstGeom prst="roundRect">
            <a:avLst>
              <a:gd name="adj" fmla="val 33333"/>
            </a:avLst>
          </a:prstGeom>
          <a:solidFill>
            <a:srgbClr val="D6943C"/>
          </a:solidFill>
          <a:ln w="12700">
            <a:solidFill>
              <a:srgbClr val="D694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CD51EFB6-A060-7D8C-4FBE-83E44DAD5037}"/>
              </a:ext>
            </a:extLst>
          </p:cNvPr>
          <p:cNvGrpSpPr/>
          <p:nvPr/>
        </p:nvGrpSpPr>
        <p:grpSpPr>
          <a:xfrm>
            <a:off x="473162" y="742123"/>
            <a:ext cx="11023266" cy="4848626"/>
            <a:chOff x="473162" y="742123"/>
            <a:chExt cx="11023266" cy="509551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7ABE454-1148-0901-6809-9510BFC1CDE3}"/>
                </a:ext>
              </a:extLst>
            </p:cNvPr>
            <p:cNvSpPr txBox="1"/>
            <p:nvPr/>
          </p:nvSpPr>
          <p:spPr>
            <a:xfrm>
              <a:off x="473162" y="742123"/>
              <a:ext cx="1132395" cy="369332"/>
            </a:xfrm>
            <a:prstGeom prst="rect">
              <a:avLst/>
            </a:prstGeom>
            <a:noFill/>
          </p:spPr>
          <p:txBody>
            <a:bodyPr wrap="square" lIns="72000" rIns="72000">
              <a:spAutoFit/>
            </a:bodyPr>
            <a:lstStyle/>
            <a:p>
              <a:r>
                <a:rPr dirty="0"/>
                <a:t>Frontend</a:t>
              </a:r>
            </a:p>
          </p:txBody>
        </p: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18A27BCE-D6F4-90B6-6265-F05AD966648C}"/>
                </a:ext>
              </a:extLst>
            </p:cNvPr>
            <p:cNvGrpSpPr/>
            <p:nvPr/>
          </p:nvGrpSpPr>
          <p:grpSpPr>
            <a:xfrm>
              <a:off x="473162" y="1223215"/>
              <a:ext cx="11023266" cy="272219"/>
              <a:chOff x="603539" y="1196181"/>
              <a:chExt cx="9951765" cy="306467"/>
            </a:xfrm>
          </p:grpSpPr>
          <p:sp>
            <p:nvSpPr>
              <p:cNvPr id="45" name="Rounded Rectangle 3">
                <a:extLst>
                  <a:ext uri="{FF2B5EF4-FFF2-40B4-BE49-F238E27FC236}">
                    <a16:creationId xmlns:a16="http://schemas.microsoft.com/office/drawing/2014/main" id="{6360A117-54E6-4424-859C-F741EA741437}"/>
                  </a:ext>
                </a:extLst>
              </p:cNvPr>
              <p:cNvSpPr/>
              <p:nvPr/>
            </p:nvSpPr>
            <p:spPr>
              <a:xfrm>
                <a:off x="603539" y="1196181"/>
                <a:ext cx="522423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>
                    <a:solidFill>
                      <a:schemeClr val="tx1"/>
                    </a:solidFill>
                  </a:rPr>
                  <a:t>React</a:t>
                </a:r>
              </a:p>
            </p:txBody>
          </p:sp>
          <p:sp>
            <p:nvSpPr>
              <p:cNvPr id="46" name="Rounded Rectangle 4">
                <a:extLst>
                  <a:ext uri="{FF2B5EF4-FFF2-40B4-BE49-F238E27FC236}">
                    <a16:creationId xmlns:a16="http://schemas.microsoft.com/office/drawing/2014/main" id="{4B1678C4-C8D3-B244-FDC3-947AA48768EA}"/>
                  </a:ext>
                </a:extLst>
              </p:cNvPr>
              <p:cNvSpPr/>
              <p:nvPr/>
            </p:nvSpPr>
            <p:spPr>
              <a:xfrm>
                <a:off x="1256755" y="1196181"/>
                <a:ext cx="653866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>
                    <a:solidFill>
                      <a:schemeClr val="tx1"/>
                    </a:solidFill>
                  </a:rPr>
                  <a:t>Angular</a:t>
                </a:r>
              </a:p>
            </p:txBody>
          </p:sp>
          <p:sp>
            <p:nvSpPr>
              <p:cNvPr id="47" name="Rounded Rectangle 5">
                <a:extLst>
                  <a:ext uri="{FF2B5EF4-FFF2-40B4-BE49-F238E27FC236}">
                    <a16:creationId xmlns:a16="http://schemas.microsoft.com/office/drawing/2014/main" id="{ACAF5D78-3E0D-7422-55D0-5936948AC523}"/>
                  </a:ext>
                </a:extLst>
              </p:cNvPr>
              <p:cNvSpPr/>
              <p:nvPr/>
            </p:nvSpPr>
            <p:spPr>
              <a:xfrm>
                <a:off x="2041414" y="1196181"/>
                <a:ext cx="411363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 dirty="0">
                    <a:solidFill>
                      <a:schemeClr val="tx1"/>
                    </a:solidFill>
                  </a:rPr>
                  <a:t>Vue</a:t>
                </a:r>
              </a:p>
            </p:txBody>
          </p:sp>
          <p:sp>
            <p:nvSpPr>
              <p:cNvPr id="48" name="Rounded Rectangle 6">
                <a:extLst>
                  <a:ext uri="{FF2B5EF4-FFF2-40B4-BE49-F238E27FC236}">
                    <a16:creationId xmlns:a16="http://schemas.microsoft.com/office/drawing/2014/main" id="{858DB3B8-C2DB-8596-C7D9-2D98B7D280C0}"/>
                  </a:ext>
                </a:extLst>
              </p:cNvPr>
              <p:cNvSpPr/>
              <p:nvPr/>
            </p:nvSpPr>
            <p:spPr>
              <a:xfrm>
                <a:off x="2583570" y="1196181"/>
                <a:ext cx="602547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>
                    <a:solidFill>
                      <a:schemeClr val="tx1"/>
                    </a:solidFill>
                  </a:rPr>
                  <a:t>Next.js</a:t>
                </a:r>
              </a:p>
            </p:txBody>
          </p:sp>
          <p:sp>
            <p:nvSpPr>
              <p:cNvPr id="49" name="Rounded Rectangle 7">
                <a:extLst>
                  <a:ext uri="{FF2B5EF4-FFF2-40B4-BE49-F238E27FC236}">
                    <a16:creationId xmlns:a16="http://schemas.microsoft.com/office/drawing/2014/main" id="{EE7D7380-E80E-36EA-44D2-723EA0008141}"/>
                  </a:ext>
                </a:extLst>
              </p:cNvPr>
              <p:cNvSpPr/>
              <p:nvPr/>
            </p:nvSpPr>
            <p:spPr>
              <a:xfrm>
                <a:off x="3316910" y="1196181"/>
                <a:ext cx="537277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>
                    <a:solidFill>
                      <a:schemeClr val="tx1"/>
                    </a:solidFill>
                  </a:rPr>
                  <a:t>HTML</a:t>
                </a:r>
              </a:p>
            </p:txBody>
          </p:sp>
          <p:sp>
            <p:nvSpPr>
              <p:cNvPr id="50" name="Rounded Rectangle 8">
                <a:extLst>
                  <a:ext uri="{FF2B5EF4-FFF2-40B4-BE49-F238E27FC236}">
                    <a16:creationId xmlns:a16="http://schemas.microsoft.com/office/drawing/2014/main" id="{A2C2B8C9-938F-A2AE-2B1D-BFA36A56E892}"/>
                  </a:ext>
                </a:extLst>
              </p:cNvPr>
              <p:cNvSpPr/>
              <p:nvPr/>
            </p:nvSpPr>
            <p:spPr>
              <a:xfrm>
                <a:off x="3984980" y="1196181"/>
                <a:ext cx="396712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>
                    <a:solidFill>
                      <a:schemeClr val="tx1"/>
                    </a:solidFill>
                  </a:rPr>
                  <a:t>CSS</a:t>
                </a:r>
              </a:p>
            </p:txBody>
          </p:sp>
          <p:sp>
            <p:nvSpPr>
              <p:cNvPr id="51" name="Rounded Rectangle 9">
                <a:extLst>
                  <a:ext uri="{FF2B5EF4-FFF2-40B4-BE49-F238E27FC236}">
                    <a16:creationId xmlns:a16="http://schemas.microsoft.com/office/drawing/2014/main" id="{0546BA69-AA20-D2E1-EACD-F4B5BE38A6B7}"/>
                  </a:ext>
                </a:extLst>
              </p:cNvPr>
              <p:cNvSpPr/>
              <p:nvPr/>
            </p:nvSpPr>
            <p:spPr>
              <a:xfrm>
                <a:off x="4512485" y="1196181"/>
                <a:ext cx="464215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>
                    <a:solidFill>
                      <a:schemeClr val="tx1"/>
                    </a:solidFill>
                  </a:rPr>
                  <a:t>SCSS</a:t>
                </a:r>
              </a:p>
            </p:txBody>
          </p:sp>
          <p:sp>
            <p:nvSpPr>
              <p:cNvPr id="52" name="Rounded Rectangle 10">
                <a:extLst>
                  <a:ext uri="{FF2B5EF4-FFF2-40B4-BE49-F238E27FC236}">
                    <a16:creationId xmlns:a16="http://schemas.microsoft.com/office/drawing/2014/main" id="{ABECFA4E-4FBF-9200-CE01-F30209558D85}"/>
                  </a:ext>
                </a:extLst>
              </p:cNvPr>
              <p:cNvSpPr/>
              <p:nvPr/>
            </p:nvSpPr>
            <p:spPr>
              <a:xfrm>
                <a:off x="5107493" y="1196181"/>
                <a:ext cx="791329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 dirty="0">
                    <a:solidFill>
                      <a:schemeClr val="tx1"/>
                    </a:solidFill>
                  </a:rPr>
                  <a:t>JavaScript</a:t>
                </a:r>
              </a:p>
            </p:txBody>
          </p:sp>
          <p:sp>
            <p:nvSpPr>
              <p:cNvPr id="53" name="Rounded Rectangle 11">
                <a:extLst>
                  <a:ext uri="{FF2B5EF4-FFF2-40B4-BE49-F238E27FC236}">
                    <a16:creationId xmlns:a16="http://schemas.microsoft.com/office/drawing/2014/main" id="{B5AED12F-950E-3372-4742-FCC317CD4603}"/>
                  </a:ext>
                </a:extLst>
              </p:cNvPr>
              <p:cNvSpPr/>
              <p:nvPr/>
            </p:nvSpPr>
            <p:spPr>
              <a:xfrm>
                <a:off x="6029615" y="1196181"/>
                <a:ext cx="818007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>
                    <a:solidFill>
                      <a:schemeClr val="tx1"/>
                    </a:solidFill>
                  </a:rPr>
                  <a:t>TypeScript</a:t>
                </a:r>
              </a:p>
            </p:txBody>
          </p:sp>
          <p:sp>
            <p:nvSpPr>
              <p:cNvPr id="54" name="Rounded Rectangle 12">
                <a:extLst>
                  <a:ext uri="{FF2B5EF4-FFF2-40B4-BE49-F238E27FC236}">
                    <a16:creationId xmlns:a16="http://schemas.microsoft.com/office/drawing/2014/main" id="{2DB19DF2-A503-8BB9-D665-24EFDCB85B7C}"/>
                  </a:ext>
                </a:extLst>
              </p:cNvPr>
              <p:cNvSpPr/>
              <p:nvPr/>
            </p:nvSpPr>
            <p:spPr>
              <a:xfrm>
                <a:off x="6978415" y="1196181"/>
                <a:ext cx="787001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>
                    <a:solidFill>
                      <a:schemeClr val="tx1"/>
                    </a:solidFill>
                  </a:rPr>
                  <a:t>Bootstrap</a:t>
                </a:r>
              </a:p>
            </p:txBody>
          </p:sp>
          <p:sp>
            <p:nvSpPr>
              <p:cNvPr id="55" name="Rounded Rectangle 13">
                <a:extLst>
                  <a:ext uri="{FF2B5EF4-FFF2-40B4-BE49-F238E27FC236}">
                    <a16:creationId xmlns:a16="http://schemas.microsoft.com/office/drawing/2014/main" id="{7D18F97E-EA2E-11D8-DC58-BCCCA3AD910C}"/>
                  </a:ext>
                </a:extLst>
              </p:cNvPr>
              <p:cNvSpPr/>
              <p:nvPr/>
            </p:nvSpPr>
            <p:spPr>
              <a:xfrm>
                <a:off x="7896209" y="1196181"/>
                <a:ext cx="684635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>
                    <a:solidFill>
                      <a:schemeClr val="tx1"/>
                    </a:solidFill>
                  </a:rPr>
                  <a:t>Tailwind</a:t>
                </a:r>
              </a:p>
            </p:txBody>
          </p:sp>
          <p:sp>
            <p:nvSpPr>
              <p:cNvPr id="56" name="Rounded Rectangle 14">
                <a:extLst>
                  <a:ext uri="{FF2B5EF4-FFF2-40B4-BE49-F238E27FC236}">
                    <a16:creationId xmlns:a16="http://schemas.microsoft.com/office/drawing/2014/main" id="{D50C1373-9E28-5198-B089-B4FEAD17BEF7}"/>
                  </a:ext>
                </a:extLst>
              </p:cNvPr>
              <p:cNvSpPr/>
              <p:nvPr/>
            </p:nvSpPr>
            <p:spPr>
              <a:xfrm>
                <a:off x="8711637" y="1196181"/>
                <a:ext cx="593540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 dirty="0">
                    <a:solidFill>
                      <a:schemeClr val="tx1"/>
                    </a:solidFill>
                  </a:rPr>
                  <a:t>jQuery</a:t>
                </a:r>
              </a:p>
            </p:txBody>
          </p:sp>
          <p:sp>
            <p:nvSpPr>
              <p:cNvPr id="57" name="Rounded Rectangle 15">
                <a:extLst>
                  <a:ext uri="{FF2B5EF4-FFF2-40B4-BE49-F238E27FC236}">
                    <a16:creationId xmlns:a16="http://schemas.microsoft.com/office/drawing/2014/main" id="{4C6BAA03-C6A0-8ADC-D577-435656B28F9C}"/>
                  </a:ext>
                </a:extLst>
              </p:cNvPr>
              <p:cNvSpPr/>
              <p:nvPr/>
            </p:nvSpPr>
            <p:spPr>
              <a:xfrm>
                <a:off x="9435970" y="1196181"/>
                <a:ext cx="480225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>
                    <a:solidFill>
                      <a:schemeClr val="tx1"/>
                    </a:solidFill>
                  </a:rPr>
                  <a:t>AJAX</a:t>
                </a:r>
              </a:p>
            </p:txBody>
          </p:sp>
          <p:sp>
            <p:nvSpPr>
              <p:cNvPr id="58" name="Rounded Rectangle 16">
                <a:extLst>
                  <a:ext uri="{FF2B5EF4-FFF2-40B4-BE49-F238E27FC236}">
                    <a16:creationId xmlns:a16="http://schemas.microsoft.com/office/drawing/2014/main" id="{0D104111-3FD0-3C73-2021-5CFBA69FA304}"/>
                  </a:ext>
                </a:extLst>
              </p:cNvPr>
              <p:cNvSpPr/>
              <p:nvPr/>
            </p:nvSpPr>
            <p:spPr>
              <a:xfrm>
                <a:off x="10046991" y="1196181"/>
                <a:ext cx="508313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>
                    <a:solidFill>
                      <a:schemeClr val="tx1"/>
                    </a:solidFill>
                  </a:rPr>
                  <a:t>Axios</a:t>
                </a:r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8BBFB9DC-1F98-F7BD-AFE9-365D64712598}"/>
                </a:ext>
              </a:extLst>
            </p:cNvPr>
            <p:cNvSpPr txBox="1"/>
            <p:nvPr/>
          </p:nvSpPr>
          <p:spPr>
            <a:xfrm>
              <a:off x="473162" y="2506513"/>
              <a:ext cx="954291" cy="369332"/>
            </a:xfrm>
            <a:prstGeom prst="rect">
              <a:avLst/>
            </a:prstGeom>
            <a:noFill/>
          </p:spPr>
          <p:txBody>
            <a:bodyPr wrap="none" lIns="72000" rIns="72000">
              <a:spAutoFit/>
            </a:bodyPr>
            <a:lstStyle/>
            <a:p>
              <a:r>
                <a:rPr dirty="0"/>
                <a:t>Backend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76C5760-7633-F10A-16DD-F898C47F4FE9}"/>
                </a:ext>
              </a:extLst>
            </p:cNvPr>
            <p:cNvSpPr txBox="1"/>
            <p:nvPr/>
          </p:nvSpPr>
          <p:spPr>
            <a:xfrm>
              <a:off x="473162" y="3371583"/>
              <a:ext cx="1128313" cy="369332"/>
            </a:xfrm>
            <a:prstGeom prst="rect">
              <a:avLst/>
            </a:prstGeom>
            <a:noFill/>
          </p:spPr>
          <p:txBody>
            <a:bodyPr wrap="none" lIns="72000" rIns="72000">
              <a:spAutoFit/>
            </a:bodyPr>
            <a:lstStyle/>
            <a:p>
              <a:r>
                <a:rPr dirty="0"/>
                <a:t>Databases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D0474703-0749-6767-8C68-3BD136218C11}"/>
                </a:ext>
              </a:extLst>
            </p:cNvPr>
            <p:cNvSpPr txBox="1"/>
            <p:nvPr/>
          </p:nvSpPr>
          <p:spPr>
            <a:xfrm>
              <a:off x="473162" y="4236653"/>
              <a:ext cx="2511778" cy="369332"/>
            </a:xfrm>
            <a:prstGeom prst="rect">
              <a:avLst/>
            </a:prstGeom>
            <a:noFill/>
          </p:spPr>
          <p:txBody>
            <a:bodyPr wrap="none" lIns="72000" rIns="72000">
              <a:spAutoFit/>
            </a:bodyPr>
            <a:lstStyle/>
            <a:p>
              <a:r>
                <a:rPr dirty="0"/>
                <a:t>Engineering Foundations</a:t>
              </a:r>
            </a:p>
          </p:txBody>
        </p: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3BC7EC16-473B-70AF-27FF-E35232BF5438}"/>
                </a:ext>
              </a:extLst>
            </p:cNvPr>
            <p:cNvGrpSpPr/>
            <p:nvPr/>
          </p:nvGrpSpPr>
          <p:grpSpPr>
            <a:xfrm>
              <a:off x="473162" y="4717745"/>
              <a:ext cx="6894816" cy="272218"/>
              <a:chOff x="603264" y="4647555"/>
              <a:chExt cx="6894816" cy="306467"/>
            </a:xfrm>
          </p:grpSpPr>
          <p:sp>
            <p:nvSpPr>
              <p:cNvPr id="72" name="Rounded Rectangle 30">
                <a:extLst>
                  <a:ext uri="{FF2B5EF4-FFF2-40B4-BE49-F238E27FC236}">
                    <a16:creationId xmlns:a16="http://schemas.microsoft.com/office/drawing/2014/main" id="{7ABDB389-2068-767A-4CDA-F46A4D4F46E4}"/>
                  </a:ext>
                </a:extLst>
              </p:cNvPr>
              <p:cNvSpPr/>
              <p:nvPr/>
            </p:nvSpPr>
            <p:spPr>
              <a:xfrm>
                <a:off x="603264" y="4647555"/>
                <a:ext cx="2055937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 dirty="0">
                    <a:solidFill>
                      <a:schemeClr val="tx1"/>
                    </a:solidFill>
                  </a:rPr>
                  <a:t>Object-Oriented Programming</a:t>
                </a:r>
              </a:p>
            </p:txBody>
          </p:sp>
          <p:sp>
            <p:nvSpPr>
              <p:cNvPr id="73" name="Rounded Rectangle 31">
                <a:extLst>
                  <a:ext uri="{FF2B5EF4-FFF2-40B4-BE49-F238E27FC236}">
                    <a16:creationId xmlns:a16="http://schemas.microsoft.com/office/drawing/2014/main" id="{6A194E51-CFF5-5E06-DC0F-2B8466B5BFEA}"/>
                  </a:ext>
                </a:extLst>
              </p:cNvPr>
              <p:cNvSpPr/>
              <p:nvPr/>
            </p:nvSpPr>
            <p:spPr>
              <a:xfrm>
                <a:off x="4269897" y="4647555"/>
                <a:ext cx="1141108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>
                    <a:solidFill>
                      <a:schemeClr val="tx1"/>
                    </a:solidFill>
                  </a:rPr>
                  <a:t>Design Patterns</a:t>
                </a:r>
              </a:p>
            </p:txBody>
          </p:sp>
          <p:sp>
            <p:nvSpPr>
              <p:cNvPr id="74" name="Rounded Rectangle 32">
                <a:extLst>
                  <a:ext uri="{FF2B5EF4-FFF2-40B4-BE49-F238E27FC236}">
                    <a16:creationId xmlns:a16="http://schemas.microsoft.com/office/drawing/2014/main" id="{CA4E1354-B26F-280E-BD7D-4E9EE3DC08FB}"/>
                  </a:ext>
                </a:extLst>
              </p:cNvPr>
              <p:cNvSpPr/>
              <p:nvPr/>
            </p:nvSpPr>
            <p:spPr>
              <a:xfrm>
                <a:off x="5510962" y="4647555"/>
                <a:ext cx="1987118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>
                    <a:solidFill>
                      <a:schemeClr val="tx1"/>
                    </a:solidFill>
                  </a:rPr>
                  <a:t>Data Structures &amp; Algorithms</a:t>
                </a:r>
              </a:p>
            </p:txBody>
          </p:sp>
          <p:sp>
            <p:nvSpPr>
              <p:cNvPr id="75" name="Rounded Rectangle 33">
                <a:extLst>
                  <a:ext uri="{FF2B5EF4-FFF2-40B4-BE49-F238E27FC236}">
                    <a16:creationId xmlns:a16="http://schemas.microsoft.com/office/drawing/2014/main" id="{501E8F89-7FFB-BCC1-D9F3-3D09BCCE8B77}"/>
                  </a:ext>
                </a:extLst>
              </p:cNvPr>
              <p:cNvSpPr/>
              <p:nvPr/>
            </p:nvSpPr>
            <p:spPr>
              <a:xfrm>
                <a:off x="2759157" y="4647555"/>
                <a:ext cx="1410784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>
                    <a:solidFill>
                      <a:schemeClr val="tx1"/>
                    </a:solidFill>
                  </a:rPr>
                  <a:t>Complexity Analysis</a:t>
                </a:r>
              </a:p>
            </p:txBody>
          </p:sp>
        </p:grp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950EAD3D-8307-9526-363C-C24ABE6D72BE}"/>
                </a:ext>
              </a:extLst>
            </p:cNvPr>
            <p:cNvSpPr txBox="1"/>
            <p:nvPr/>
          </p:nvSpPr>
          <p:spPr>
            <a:xfrm>
              <a:off x="473162" y="5101723"/>
              <a:ext cx="535190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dirty="0"/>
                <a:t>Tools</a:t>
              </a:r>
              <a:r>
                <a:rPr lang="en-US" dirty="0"/>
                <a:t>, </a:t>
              </a:r>
              <a:r>
                <a:rPr dirty="0"/>
                <a:t>Workflow</a:t>
              </a:r>
              <a:r>
                <a:rPr lang="en-US" dirty="0"/>
                <a:t>, Productivity &amp; Growth</a:t>
              </a:r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4808A26B-B317-3183-C71F-383CF5B7B4A0}"/>
                </a:ext>
              </a:extLst>
            </p:cNvPr>
            <p:cNvGrpSpPr/>
            <p:nvPr/>
          </p:nvGrpSpPr>
          <p:grpSpPr>
            <a:xfrm>
              <a:off x="473162" y="5582817"/>
              <a:ext cx="8148131" cy="254822"/>
              <a:chOff x="603264" y="5582816"/>
              <a:chExt cx="8148131" cy="306467"/>
            </a:xfrm>
          </p:grpSpPr>
          <p:sp>
            <p:nvSpPr>
              <p:cNvPr id="77" name="Rounded Rectangle 35">
                <a:extLst>
                  <a:ext uri="{FF2B5EF4-FFF2-40B4-BE49-F238E27FC236}">
                    <a16:creationId xmlns:a16="http://schemas.microsoft.com/office/drawing/2014/main" id="{120E664D-2BDD-111F-D07B-A36AFD4192D8}"/>
                  </a:ext>
                </a:extLst>
              </p:cNvPr>
              <p:cNvSpPr/>
              <p:nvPr/>
            </p:nvSpPr>
            <p:spPr>
              <a:xfrm>
                <a:off x="603264" y="5582816"/>
                <a:ext cx="321776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36000" rtlCol="0" anchor="ctr">
                <a:spAutoFit/>
              </a:bodyPr>
              <a:lstStyle/>
              <a:p>
                <a:pPr algn="ctr"/>
                <a:r>
                  <a:rPr sz="1200">
                    <a:solidFill>
                      <a:schemeClr val="tx1"/>
                    </a:solidFill>
                  </a:rPr>
                  <a:t>Git</a:t>
                </a:r>
              </a:p>
            </p:txBody>
          </p:sp>
          <p:sp>
            <p:nvSpPr>
              <p:cNvPr id="78" name="Rounded Rectangle 36">
                <a:extLst>
                  <a:ext uri="{FF2B5EF4-FFF2-40B4-BE49-F238E27FC236}">
                    <a16:creationId xmlns:a16="http://schemas.microsoft.com/office/drawing/2014/main" id="{8D3AFCEA-19DE-115C-4FC4-3E68DCC2AA3E}"/>
                  </a:ext>
                </a:extLst>
              </p:cNvPr>
              <p:cNvSpPr/>
              <p:nvPr/>
            </p:nvSpPr>
            <p:spPr>
              <a:xfrm>
                <a:off x="1054778" y="5582816"/>
                <a:ext cx="576471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36000" rtlCol="0" anchor="ctr">
                <a:spAutoFit/>
              </a:bodyPr>
              <a:lstStyle/>
              <a:p>
                <a:pPr algn="ctr"/>
                <a:r>
                  <a:rPr sz="1200">
                    <a:solidFill>
                      <a:schemeClr val="tx1"/>
                    </a:solidFill>
                  </a:rPr>
                  <a:t>GitHub</a:t>
                </a:r>
              </a:p>
            </p:txBody>
          </p:sp>
          <p:sp>
            <p:nvSpPr>
              <p:cNvPr id="79" name="Rounded Rectangle 37">
                <a:extLst>
                  <a:ext uri="{FF2B5EF4-FFF2-40B4-BE49-F238E27FC236}">
                    <a16:creationId xmlns:a16="http://schemas.microsoft.com/office/drawing/2014/main" id="{3119F3E1-2686-EB3D-C3A0-CF8F7711D3FD}"/>
                  </a:ext>
                </a:extLst>
              </p:cNvPr>
              <p:cNvSpPr/>
              <p:nvPr/>
            </p:nvSpPr>
            <p:spPr>
              <a:xfrm>
                <a:off x="1760987" y="5582816"/>
                <a:ext cx="681043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36000" rtlCol="0" anchor="ctr">
                <a:spAutoFit/>
              </a:bodyPr>
              <a:lstStyle/>
              <a:p>
                <a:pPr algn="ctr"/>
                <a:r>
                  <a:rPr sz="1200">
                    <a:solidFill>
                      <a:schemeClr val="tx1"/>
                    </a:solidFill>
                  </a:rPr>
                  <a:t>Postman</a:t>
                </a:r>
              </a:p>
            </p:txBody>
          </p:sp>
          <p:sp>
            <p:nvSpPr>
              <p:cNvPr id="80" name="Rounded Rectangle 38">
                <a:extLst>
                  <a:ext uri="{FF2B5EF4-FFF2-40B4-BE49-F238E27FC236}">
                    <a16:creationId xmlns:a16="http://schemas.microsoft.com/office/drawing/2014/main" id="{88659C0A-0D72-BC82-2351-1B11CBFCCA37}"/>
                  </a:ext>
                </a:extLst>
              </p:cNvPr>
              <p:cNvSpPr/>
              <p:nvPr/>
            </p:nvSpPr>
            <p:spPr>
              <a:xfrm>
                <a:off x="2571768" y="5582816"/>
                <a:ext cx="941924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36000" rtlCol="0" anchor="ctr">
                <a:spAutoFit/>
              </a:bodyPr>
              <a:lstStyle/>
              <a:p>
                <a:pPr algn="ctr"/>
                <a:r>
                  <a:rPr sz="1200" dirty="0">
                    <a:solidFill>
                      <a:schemeClr val="tx1"/>
                    </a:solidFill>
                  </a:rPr>
                  <a:t>Visual Studio</a:t>
                </a:r>
              </a:p>
            </p:txBody>
          </p:sp>
          <p:sp>
            <p:nvSpPr>
              <p:cNvPr id="81" name="Rounded Rectangle 39">
                <a:extLst>
                  <a:ext uri="{FF2B5EF4-FFF2-40B4-BE49-F238E27FC236}">
                    <a16:creationId xmlns:a16="http://schemas.microsoft.com/office/drawing/2014/main" id="{BFD9D3A5-FE98-729F-7BE8-F2417ADBDC64}"/>
                  </a:ext>
                </a:extLst>
              </p:cNvPr>
              <p:cNvSpPr/>
              <p:nvPr/>
            </p:nvSpPr>
            <p:spPr>
              <a:xfrm>
                <a:off x="3643430" y="5582816"/>
                <a:ext cx="512252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36000" rtlCol="0" anchor="ctr">
                <a:spAutoFit/>
              </a:bodyPr>
              <a:lstStyle/>
              <a:p>
                <a:pPr algn="ctr"/>
                <a:r>
                  <a:rPr sz="1200">
                    <a:solidFill>
                      <a:schemeClr val="tx1"/>
                    </a:solidFill>
                  </a:rPr>
                  <a:t>Figma</a:t>
                </a:r>
              </a:p>
            </p:txBody>
          </p:sp>
          <p:sp>
            <p:nvSpPr>
              <p:cNvPr id="82" name="Rounded Rectangle 40">
                <a:extLst>
                  <a:ext uri="{FF2B5EF4-FFF2-40B4-BE49-F238E27FC236}">
                    <a16:creationId xmlns:a16="http://schemas.microsoft.com/office/drawing/2014/main" id="{96DDA785-BA7F-BE49-5DA7-7F2F518B0EB9}"/>
                  </a:ext>
                </a:extLst>
              </p:cNvPr>
              <p:cNvSpPr/>
              <p:nvPr/>
            </p:nvSpPr>
            <p:spPr>
              <a:xfrm>
                <a:off x="4285420" y="5582816"/>
                <a:ext cx="345146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36000" rtlCol="0" anchor="ctr">
                <a:spAutoFit/>
              </a:bodyPr>
              <a:lstStyle/>
              <a:p>
                <a:pPr algn="ctr"/>
                <a:r>
                  <a:rPr sz="1200">
                    <a:solidFill>
                      <a:schemeClr val="tx1"/>
                    </a:solidFill>
                  </a:rPr>
                  <a:t>Jira</a:t>
                </a:r>
              </a:p>
            </p:txBody>
          </p:sp>
          <p:sp>
            <p:nvSpPr>
              <p:cNvPr id="83" name="Rounded Rectangle 42">
                <a:extLst>
                  <a:ext uri="{FF2B5EF4-FFF2-40B4-BE49-F238E27FC236}">
                    <a16:creationId xmlns:a16="http://schemas.microsoft.com/office/drawing/2014/main" id="{87BBC6E4-8F01-C8B7-AB09-62A5015E61CE}"/>
                  </a:ext>
                </a:extLst>
              </p:cNvPr>
              <p:cNvSpPr/>
              <p:nvPr/>
            </p:nvSpPr>
            <p:spPr>
              <a:xfrm>
                <a:off x="4760304" y="5582816"/>
                <a:ext cx="417935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>
                    <a:solidFill>
                      <a:schemeClr val="tx1"/>
                    </a:solidFill>
                  </a:rPr>
                  <a:t>SEO</a:t>
                </a:r>
              </a:p>
            </p:txBody>
          </p:sp>
          <p:sp>
            <p:nvSpPr>
              <p:cNvPr id="84" name="Rounded Rectangle 43">
                <a:extLst>
                  <a:ext uri="{FF2B5EF4-FFF2-40B4-BE49-F238E27FC236}">
                    <a16:creationId xmlns:a16="http://schemas.microsoft.com/office/drawing/2014/main" id="{EF74EEDD-123D-E6DF-70B6-02C85D61E80C}"/>
                  </a:ext>
                </a:extLst>
              </p:cNvPr>
              <p:cNvSpPr/>
              <p:nvPr/>
            </p:nvSpPr>
            <p:spPr>
              <a:xfrm>
                <a:off x="5307977" y="5582816"/>
                <a:ext cx="1220147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>
                    <a:solidFill>
                      <a:schemeClr val="tx1"/>
                    </a:solidFill>
                  </a:rPr>
                  <a:t>Microsoft Office</a:t>
                </a:r>
              </a:p>
            </p:txBody>
          </p:sp>
          <p:sp>
            <p:nvSpPr>
              <p:cNvPr id="85" name="Rounded Rectangle 44">
                <a:extLst>
                  <a:ext uri="{FF2B5EF4-FFF2-40B4-BE49-F238E27FC236}">
                    <a16:creationId xmlns:a16="http://schemas.microsoft.com/office/drawing/2014/main" id="{D2911E3E-0505-2601-4137-B4AB90A7D628}"/>
                  </a:ext>
                </a:extLst>
              </p:cNvPr>
              <p:cNvSpPr/>
              <p:nvPr/>
            </p:nvSpPr>
            <p:spPr>
              <a:xfrm>
                <a:off x="6657862" y="5582816"/>
                <a:ext cx="580969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 dirty="0">
                    <a:solidFill>
                      <a:schemeClr val="tx1"/>
                    </a:solidFill>
                  </a:rPr>
                  <a:t>Adobe</a:t>
                </a:r>
              </a:p>
            </p:txBody>
          </p:sp>
          <p:sp>
            <p:nvSpPr>
              <p:cNvPr id="86" name="Rounded Rectangle 45">
                <a:extLst>
                  <a:ext uri="{FF2B5EF4-FFF2-40B4-BE49-F238E27FC236}">
                    <a16:creationId xmlns:a16="http://schemas.microsoft.com/office/drawing/2014/main" id="{C53A500A-1390-FF2B-663C-3B3AA96BA6B9}"/>
                  </a:ext>
                </a:extLst>
              </p:cNvPr>
              <p:cNvSpPr/>
              <p:nvPr/>
            </p:nvSpPr>
            <p:spPr>
              <a:xfrm>
                <a:off x="7368566" y="5582816"/>
                <a:ext cx="1382829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>
                    <a:solidFill>
                      <a:schemeClr val="tx1"/>
                    </a:solidFill>
                  </a:rPr>
                  <a:t>Google Workspace</a:t>
                </a:r>
              </a:p>
            </p:txBody>
          </p:sp>
        </p:grpSp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B897C866-BC34-085D-3FEC-2C5EE03E80E0}"/>
                </a:ext>
              </a:extLst>
            </p:cNvPr>
            <p:cNvGrpSpPr/>
            <p:nvPr/>
          </p:nvGrpSpPr>
          <p:grpSpPr>
            <a:xfrm>
              <a:off x="473162" y="2987605"/>
              <a:ext cx="6958242" cy="272218"/>
              <a:chOff x="603539" y="2939975"/>
              <a:chExt cx="6958242" cy="306467"/>
            </a:xfrm>
          </p:grpSpPr>
          <p:sp>
            <p:nvSpPr>
              <p:cNvPr id="60" name="Rounded Rectangle 18">
                <a:extLst>
                  <a:ext uri="{FF2B5EF4-FFF2-40B4-BE49-F238E27FC236}">
                    <a16:creationId xmlns:a16="http://schemas.microsoft.com/office/drawing/2014/main" id="{5066A54F-C911-5018-925D-7A7AD081BB09}"/>
                  </a:ext>
                </a:extLst>
              </p:cNvPr>
              <p:cNvSpPr/>
              <p:nvPr/>
            </p:nvSpPr>
            <p:spPr>
              <a:xfrm>
                <a:off x="603539" y="2939975"/>
                <a:ext cx="643876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 dirty="0">
                    <a:solidFill>
                      <a:schemeClr val="tx1"/>
                    </a:solidFill>
                  </a:rPr>
                  <a:t>Node.js</a:t>
                </a:r>
              </a:p>
            </p:txBody>
          </p:sp>
          <p:sp>
            <p:nvSpPr>
              <p:cNvPr id="61" name="Rounded Rectangle 19">
                <a:extLst>
                  <a:ext uri="{FF2B5EF4-FFF2-40B4-BE49-F238E27FC236}">
                    <a16:creationId xmlns:a16="http://schemas.microsoft.com/office/drawing/2014/main" id="{159700F6-A49D-0926-5080-3FFCBE20F27F}"/>
                  </a:ext>
                </a:extLst>
              </p:cNvPr>
              <p:cNvSpPr/>
              <p:nvPr/>
            </p:nvSpPr>
            <p:spPr>
              <a:xfrm>
                <a:off x="1339304" y="2939975"/>
                <a:ext cx="803251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 dirty="0">
                    <a:solidFill>
                      <a:schemeClr val="tx1"/>
                    </a:solidFill>
                  </a:rPr>
                  <a:t>Express</a:t>
                </a:r>
                <a:r>
                  <a:rPr lang="en-US" sz="1200" dirty="0">
                    <a:solidFill>
                      <a:schemeClr val="tx1"/>
                    </a:solidFill>
                  </a:rPr>
                  <a:t> JS</a:t>
                </a:r>
                <a:endParaRPr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Rounded Rectangle 20">
                <a:extLst>
                  <a:ext uri="{FF2B5EF4-FFF2-40B4-BE49-F238E27FC236}">
                    <a16:creationId xmlns:a16="http://schemas.microsoft.com/office/drawing/2014/main" id="{C6237B1A-0931-99AC-70E2-5EC12C2A82AB}"/>
                  </a:ext>
                </a:extLst>
              </p:cNvPr>
              <p:cNvSpPr/>
              <p:nvPr/>
            </p:nvSpPr>
            <p:spPr>
              <a:xfrm>
                <a:off x="2234444" y="2939975"/>
                <a:ext cx="612093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>
                    <a:solidFill>
                      <a:schemeClr val="tx1"/>
                    </a:solidFill>
                  </a:rPr>
                  <a:t>Laravel</a:t>
                </a:r>
              </a:p>
            </p:txBody>
          </p:sp>
          <p:sp>
            <p:nvSpPr>
              <p:cNvPr id="63" name="Rounded Rectangle 21">
                <a:extLst>
                  <a:ext uri="{FF2B5EF4-FFF2-40B4-BE49-F238E27FC236}">
                    <a16:creationId xmlns:a16="http://schemas.microsoft.com/office/drawing/2014/main" id="{64C6F3D3-B720-6166-68C9-098B29C3652B}"/>
                  </a:ext>
                </a:extLst>
              </p:cNvPr>
              <p:cNvSpPr/>
              <p:nvPr/>
            </p:nvSpPr>
            <p:spPr>
              <a:xfrm>
                <a:off x="2938426" y="2939975"/>
                <a:ext cx="429094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>
                    <a:solidFill>
                      <a:schemeClr val="tx1"/>
                    </a:solidFill>
                  </a:rPr>
                  <a:t>PHP</a:t>
                </a:r>
              </a:p>
            </p:txBody>
          </p:sp>
          <p:sp>
            <p:nvSpPr>
              <p:cNvPr id="64" name="Rounded Rectangle 22">
                <a:extLst>
                  <a:ext uri="{FF2B5EF4-FFF2-40B4-BE49-F238E27FC236}">
                    <a16:creationId xmlns:a16="http://schemas.microsoft.com/office/drawing/2014/main" id="{9B03A6DE-E618-01C9-2E8A-3320D0E5C084}"/>
                  </a:ext>
                </a:extLst>
              </p:cNvPr>
              <p:cNvSpPr/>
              <p:nvPr/>
            </p:nvSpPr>
            <p:spPr>
              <a:xfrm>
                <a:off x="3459409" y="2939975"/>
                <a:ext cx="781140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>
                    <a:solidFill>
                      <a:schemeClr val="tx1"/>
                    </a:solidFill>
                  </a:rPr>
                  <a:t>REST APIs</a:t>
                </a:r>
              </a:p>
            </p:txBody>
          </p:sp>
          <p:sp>
            <p:nvSpPr>
              <p:cNvPr id="65" name="Rounded Rectangle 23">
                <a:extLst>
                  <a:ext uri="{FF2B5EF4-FFF2-40B4-BE49-F238E27FC236}">
                    <a16:creationId xmlns:a16="http://schemas.microsoft.com/office/drawing/2014/main" id="{C215BACC-BA02-9EA5-640D-CDF53CDAA96F}"/>
                  </a:ext>
                </a:extLst>
              </p:cNvPr>
              <p:cNvSpPr/>
              <p:nvPr/>
            </p:nvSpPr>
            <p:spPr>
              <a:xfrm>
                <a:off x="4332438" y="2939975"/>
                <a:ext cx="1254704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 dirty="0">
                    <a:solidFill>
                      <a:schemeClr val="tx1"/>
                    </a:solidFill>
                  </a:rPr>
                  <a:t>CRUD Operations</a:t>
                </a:r>
              </a:p>
            </p:txBody>
          </p:sp>
          <p:sp>
            <p:nvSpPr>
              <p:cNvPr id="66" name="Rounded Rectangle 24">
                <a:extLst>
                  <a:ext uri="{FF2B5EF4-FFF2-40B4-BE49-F238E27FC236}">
                    <a16:creationId xmlns:a16="http://schemas.microsoft.com/office/drawing/2014/main" id="{941E4967-E1D6-5BB0-A04D-8A3E4E638EBC}"/>
                  </a:ext>
                </a:extLst>
              </p:cNvPr>
              <p:cNvSpPr/>
              <p:nvPr/>
            </p:nvSpPr>
            <p:spPr>
              <a:xfrm>
                <a:off x="5679031" y="2939975"/>
                <a:ext cx="494744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>
                    <a:solidFill>
                      <a:schemeClr val="tx1"/>
                    </a:solidFill>
                  </a:rPr>
                  <a:t>JSON</a:t>
                </a:r>
              </a:p>
            </p:txBody>
          </p:sp>
          <p:sp>
            <p:nvSpPr>
              <p:cNvPr id="87" name="Rounded Rectangle 24">
                <a:extLst>
                  <a:ext uri="{FF2B5EF4-FFF2-40B4-BE49-F238E27FC236}">
                    <a16:creationId xmlns:a16="http://schemas.microsoft.com/office/drawing/2014/main" id="{CA238D6E-7DDC-5436-9D76-F700A552E3FC}"/>
                  </a:ext>
                </a:extLst>
              </p:cNvPr>
              <p:cNvSpPr/>
              <p:nvPr/>
            </p:nvSpPr>
            <p:spPr>
              <a:xfrm>
                <a:off x="6265664" y="2939975"/>
                <a:ext cx="438472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</a:rPr>
                  <a:t>.Net</a:t>
                </a:r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8" name="Rounded Rectangle 24">
                <a:extLst>
                  <a:ext uri="{FF2B5EF4-FFF2-40B4-BE49-F238E27FC236}">
                    <a16:creationId xmlns:a16="http://schemas.microsoft.com/office/drawing/2014/main" id="{4930A477-C9B7-E295-072C-E7EAA21E46ED}"/>
                  </a:ext>
                </a:extLst>
              </p:cNvPr>
              <p:cNvSpPr/>
              <p:nvPr/>
            </p:nvSpPr>
            <p:spPr>
              <a:xfrm>
                <a:off x="6796025" y="2939975"/>
                <a:ext cx="765756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</a:rPr>
                  <a:t>.Net</a:t>
                </a:r>
                <a:r>
                  <a:rPr lang="en-US" sz="1200" dirty="0">
                    <a:solidFill>
                      <a:schemeClr val="tx1"/>
                    </a:solidFill>
                  </a:rPr>
                  <a:t> Core</a:t>
                </a:r>
              </a:p>
            </p:txBody>
          </p: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C40EE041-4C12-205A-FDB8-C6DB75EC3174}"/>
                </a:ext>
              </a:extLst>
            </p:cNvPr>
            <p:cNvGrpSpPr/>
            <p:nvPr/>
          </p:nvGrpSpPr>
          <p:grpSpPr>
            <a:xfrm>
              <a:off x="473162" y="3852675"/>
              <a:ext cx="5667288" cy="272218"/>
              <a:chOff x="603813" y="3798165"/>
              <a:chExt cx="5667288" cy="306467"/>
            </a:xfrm>
          </p:grpSpPr>
          <p:sp>
            <p:nvSpPr>
              <p:cNvPr id="68" name="Rounded Rectangle 26">
                <a:extLst>
                  <a:ext uri="{FF2B5EF4-FFF2-40B4-BE49-F238E27FC236}">
                    <a16:creationId xmlns:a16="http://schemas.microsoft.com/office/drawing/2014/main" id="{54C01222-5768-3830-12EE-4B932AD830F8}"/>
                  </a:ext>
                </a:extLst>
              </p:cNvPr>
              <p:cNvSpPr/>
              <p:nvPr/>
            </p:nvSpPr>
            <p:spPr>
              <a:xfrm>
                <a:off x="603813" y="3798165"/>
                <a:ext cx="410268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 dirty="0">
                    <a:solidFill>
                      <a:schemeClr val="tx1"/>
                    </a:solidFill>
                  </a:rPr>
                  <a:t>SQL</a:t>
                </a:r>
              </a:p>
            </p:txBody>
          </p:sp>
          <p:sp>
            <p:nvSpPr>
              <p:cNvPr id="69" name="Rounded Rectangle 27">
                <a:extLst>
                  <a:ext uri="{FF2B5EF4-FFF2-40B4-BE49-F238E27FC236}">
                    <a16:creationId xmlns:a16="http://schemas.microsoft.com/office/drawing/2014/main" id="{B3AEC0E3-01D2-00CE-D3FC-8BD81374D002}"/>
                  </a:ext>
                </a:extLst>
              </p:cNvPr>
              <p:cNvSpPr/>
              <p:nvPr/>
            </p:nvSpPr>
            <p:spPr>
              <a:xfrm>
                <a:off x="1094064" y="3798165"/>
                <a:ext cx="612899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>
                    <a:solidFill>
                      <a:schemeClr val="tx1"/>
                    </a:solidFill>
                  </a:rPr>
                  <a:t>MySQL</a:t>
                </a:r>
              </a:p>
            </p:txBody>
          </p:sp>
          <p:sp>
            <p:nvSpPr>
              <p:cNvPr id="70" name="Rounded Rectangle 28">
                <a:extLst>
                  <a:ext uri="{FF2B5EF4-FFF2-40B4-BE49-F238E27FC236}">
                    <a16:creationId xmlns:a16="http://schemas.microsoft.com/office/drawing/2014/main" id="{518CAF2F-7330-3EE0-F5A7-670B1805BEB3}"/>
                  </a:ext>
                </a:extLst>
              </p:cNvPr>
              <p:cNvSpPr/>
              <p:nvPr/>
            </p:nvSpPr>
            <p:spPr>
              <a:xfrm>
                <a:off x="1786946" y="3798165"/>
                <a:ext cx="1703880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sz="1200" dirty="0">
                    <a:solidFill>
                      <a:schemeClr val="tx1"/>
                    </a:solidFill>
                  </a:rPr>
                  <a:t>Database Administration</a:t>
                </a:r>
              </a:p>
            </p:txBody>
          </p:sp>
          <p:sp>
            <p:nvSpPr>
              <p:cNvPr id="89" name="Rounded Rectangle 24">
                <a:extLst>
                  <a:ext uri="{FF2B5EF4-FFF2-40B4-BE49-F238E27FC236}">
                    <a16:creationId xmlns:a16="http://schemas.microsoft.com/office/drawing/2014/main" id="{6D9314E7-F523-1CF9-336E-7972852AF9B8}"/>
                  </a:ext>
                </a:extLst>
              </p:cNvPr>
              <p:cNvSpPr/>
              <p:nvPr/>
            </p:nvSpPr>
            <p:spPr>
              <a:xfrm>
                <a:off x="3570809" y="3798165"/>
                <a:ext cx="799322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MongoDB</a:t>
                </a:r>
              </a:p>
            </p:txBody>
          </p:sp>
          <p:sp>
            <p:nvSpPr>
              <p:cNvPr id="90" name="Rounded Rectangle 24">
                <a:extLst>
                  <a:ext uri="{FF2B5EF4-FFF2-40B4-BE49-F238E27FC236}">
                    <a16:creationId xmlns:a16="http://schemas.microsoft.com/office/drawing/2014/main" id="{469F1B3C-A76C-A71E-990B-39223AFCD5BC}"/>
                  </a:ext>
                </a:extLst>
              </p:cNvPr>
              <p:cNvSpPr/>
              <p:nvPr/>
            </p:nvSpPr>
            <p:spPr>
              <a:xfrm>
                <a:off x="5553965" y="3798165"/>
                <a:ext cx="717136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MariaDB</a:t>
                </a:r>
              </a:p>
            </p:txBody>
          </p:sp>
          <p:sp>
            <p:nvSpPr>
              <p:cNvPr id="91" name="Rounded Rectangle 24">
                <a:extLst>
                  <a:ext uri="{FF2B5EF4-FFF2-40B4-BE49-F238E27FC236}">
                    <a16:creationId xmlns:a16="http://schemas.microsoft.com/office/drawing/2014/main" id="{D275E3FF-D158-B228-4C7A-DEBE69E7CB20}"/>
                  </a:ext>
                </a:extLst>
              </p:cNvPr>
              <p:cNvSpPr/>
              <p:nvPr/>
            </p:nvSpPr>
            <p:spPr>
              <a:xfrm>
                <a:off x="4450114" y="3798165"/>
                <a:ext cx="1023867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phpMyAdmin</a:t>
                </a:r>
              </a:p>
            </p:txBody>
          </p:sp>
        </p:grp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3B5E239C-C814-1B2E-3FD2-223D5E3240C5}"/>
                </a:ext>
              </a:extLst>
            </p:cNvPr>
            <p:cNvSpPr txBox="1"/>
            <p:nvPr/>
          </p:nvSpPr>
          <p:spPr>
            <a:xfrm>
              <a:off x="473162" y="1607194"/>
              <a:ext cx="807447" cy="369332"/>
            </a:xfrm>
            <a:prstGeom prst="rect">
              <a:avLst/>
            </a:prstGeom>
            <a:noFill/>
          </p:spPr>
          <p:txBody>
            <a:bodyPr wrap="none" lIns="72000" rIns="72000">
              <a:spAutoFit/>
            </a:bodyPr>
            <a:lstStyle/>
            <a:p>
              <a:r>
                <a:rPr lang="en-US" dirty="0"/>
                <a:t>Mobile</a:t>
              </a:r>
              <a:endParaRPr dirty="0"/>
            </a:p>
          </p:txBody>
        </p: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78905021-1E9A-09D8-D687-056C769F6F23}"/>
                </a:ext>
              </a:extLst>
            </p:cNvPr>
            <p:cNvGrpSpPr/>
            <p:nvPr/>
          </p:nvGrpSpPr>
          <p:grpSpPr>
            <a:xfrm>
              <a:off x="473162" y="2088286"/>
              <a:ext cx="1705425" cy="306467"/>
              <a:chOff x="607456" y="1966966"/>
              <a:chExt cx="1705425" cy="306467"/>
            </a:xfrm>
          </p:grpSpPr>
          <p:sp>
            <p:nvSpPr>
              <p:cNvPr id="93" name="Rounded Rectangle 3">
                <a:extLst>
                  <a:ext uri="{FF2B5EF4-FFF2-40B4-BE49-F238E27FC236}">
                    <a16:creationId xmlns:a16="http://schemas.microsoft.com/office/drawing/2014/main" id="{54FA0B13-A128-13D4-4ADF-202025BEFB50}"/>
                  </a:ext>
                </a:extLst>
              </p:cNvPr>
              <p:cNvSpPr/>
              <p:nvPr/>
            </p:nvSpPr>
            <p:spPr>
              <a:xfrm>
                <a:off x="607456" y="1966966"/>
                <a:ext cx="938950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React native</a:t>
                </a:r>
                <a:endParaRPr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4" name="Rounded Rectangle 4">
                <a:extLst>
                  <a:ext uri="{FF2B5EF4-FFF2-40B4-BE49-F238E27FC236}">
                    <a16:creationId xmlns:a16="http://schemas.microsoft.com/office/drawing/2014/main" id="{E28CEBD4-52EF-CDBE-D8DB-9181A721D5DC}"/>
                  </a:ext>
                </a:extLst>
              </p:cNvPr>
              <p:cNvSpPr/>
              <p:nvPr/>
            </p:nvSpPr>
            <p:spPr>
              <a:xfrm>
                <a:off x="1725861" y="1966966"/>
                <a:ext cx="587020" cy="306467"/>
              </a:xfrm>
              <a:prstGeom prst="roundRect">
                <a:avLst/>
              </a:prstGeom>
              <a:solidFill>
                <a:srgbClr val="E6F0FA"/>
              </a:solidFill>
              <a:ln>
                <a:solidFill>
                  <a:srgbClr val="A0B4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none" lIns="72000" rIns="72000" rtlCol="0" anchor="ctr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Flutter</a:t>
                </a:r>
                <a:endParaRPr sz="1200" dirty="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506836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Expertise &amp; Capabilities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10817352" y="201168"/>
            <a:ext cx="475488" cy="73152"/>
          </a:xfrm>
          <a:prstGeom prst="roundRect">
            <a:avLst>
              <a:gd name="adj" fmla="val 37500"/>
            </a:avLst>
          </a:prstGeom>
          <a:solidFill>
            <a:srgbClr val="0B0B0B"/>
          </a:solidFill>
          <a:ln w="12700">
            <a:solidFill>
              <a:srgbClr val="0B0B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6547104"/>
            <a:ext cx="11137392" cy="27432"/>
          </a:xfrm>
          <a:prstGeom prst="roundRect">
            <a:avLst>
              <a:gd name="adj" fmla="val 33333"/>
            </a:avLst>
          </a:prstGeom>
          <a:solidFill>
            <a:srgbClr val="D6943C"/>
          </a:solidFill>
          <a:ln w="12700">
            <a:solidFill>
              <a:srgbClr val="D694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58368" y="1051560"/>
            <a:ext cx="3547872" cy="658368"/>
          </a:xfrm>
          <a:prstGeom prst="rect">
            <a:avLst/>
          </a:prstGeom>
          <a:solidFill>
            <a:srgbClr val="173F73"/>
          </a:solidFill>
          <a:ln w="12700">
            <a:solidFill>
              <a:srgbClr val="173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1161288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Leadership &amp; Team Building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58368" y="1709928"/>
            <a:ext cx="3547872" cy="1856232"/>
          </a:xfrm>
          <a:prstGeom prst="rect">
            <a:avLst/>
          </a:prstGeom>
          <a:solidFill>
            <a:srgbClr val="F6F8FB"/>
          </a:solidFill>
          <a:ln w="10160">
            <a:solidFill>
              <a:srgbClr val="D8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68096" y="1856232"/>
            <a:ext cx="3328416" cy="15910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Mentored junior developers and improved code quality and efficiency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Comfortable setting standards, review habits, and delivery expectations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Able to lead lean teams while still contributing hands-on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Strong owner mentality from idea to implementation</a:t>
            </a:r>
            <a:endParaRPr lang="en-US" sz="1140" dirty="0"/>
          </a:p>
        </p:txBody>
      </p:sp>
      <p:sp>
        <p:nvSpPr>
          <p:cNvPr id="10" name="Shape 8"/>
          <p:cNvSpPr/>
          <p:nvPr/>
        </p:nvSpPr>
        <p:spPr>
          <a:xfrm>
            <a:off x="4325112" y="1051560"/>
            <a:ext cx="3547872" cy="658368"/>
          </a:xfrm>
          <a:prstGeom prst="rect">
            <a:avLst/>
          </a:prstGeom>
          <a:solidFill>
            <a:srgbClr val="0B2C5D"/>
          </a:solidFill>
          <a:ln w="12700">
            <a:solidFill>
              <a:srgbClr val="0B2C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98264" y="1161288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Business &amp; Cross-Functional Partnership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25112" y="1709928"/>
            <a:ext cx="3547872" cy="1856232"/>
          </a:xfrm>
          <a:prstGeom prst="rect">
            <a:avLst/>
          </a:prstGeom>
          <a:solidFill>
            <a:srgbClr val="F6F8FB"/>
          </a:solidFill>
          <a:ln w="10160">
            <a:solidFill>
              <a:srgbClr val="D8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434840" y="1856232"/>
            <a:ext cx="3328416" cy="15910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Translate requirements into executable plans and technical decisions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Collaborate with product, design, marketing, and operations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Support launches, conversion performance, and digital growth goals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Communicate tradeoffs clearly to non-technical stakeholders</a:t>
            </a:r>
            <a:endParaRPr lang="en-US" sz="1140" dirty="0"/>
          </a:p>
        </p:txBody>
      </p:sp>
      <p:sp>
        <p:nvSpPr>
          <p:cNvPr id="14" name="Shape 12"/>
          <p:cNvSpPr/>
          <p:nvPr/>
        </p:nvSpPr>
        <p:spPr>
          <a:xfrm>
            <a:off x="7991856" y="1051560"/>
            <a:ext cx="3547872" cy="658368"/>
          </a:xfrm>
          <a:prstGeom prst="rect">
            <a:avLst/>
          </a:prstGeom>
          <a:solidFill>
            <a:srgbClr val="D6943C"/>
          </a:solidFill>
          <a:ln w="12700">
            <a:solidFill>
              <a:srgbClr val="D694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065008" y="1161288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Industry Breadth Without Being Project-Locked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991856" y="1709928"/>
            <a:ext cx="3547872" cy="1856232"/>
          </a:xfrm>
          <a:prstGeom prst="rect">
            <a:avLst/>
          </a:prstGeom>
          <a:solidFill>
            <a:srgbClr val="F6F8FB"/>
          </a:solidFill>
          <a:ln w="10160">
            <a:solidFill>
              <a:srgbClr val="D8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101584" y="1856232"/>
            <a:ext cx="3328416" cy="15910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Banking &amp; finance, insurance, fintech, retail, healthcare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Cargo &amp; shipping, airports, logistics, education, public sector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Exposure to both enterprise environments and fast-moving delivery teams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Useful for CTO roles that require range, not just one vertical</a:t>
            </a:r>
            <a:endParaRPr lang="en-US" sz="1140" dirty="0"/>
          </a:p>
        </p:txBody>
      </p:sp>
      <p:sp>
        <p:nvSpPr>
          <p:cNvPr id="18" name="Shape 16"/>
          <p:cNvSpPr/>
          <p:nvPr/>
        </p:nvSpPr>
        <p:spPr>
          <a:xfrm>
            <a:off x="822960" y="4407408"/>
            <a:ext cx="10561320" cy="91440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8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024128" y="45902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80" b="1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Qualifications snapshot</a:t>
            </a:r>
            <a:endParaRPr lang="en-US" sz="1280" dirty="0"/>
          </a:p>
        </p:txBody>
      </p:sp>
      <p:sp>
        <p:nvSpPr>
          <p:cNvPr id="20" name="Text 18"/>
          <p:cNvSpPr/>
          <p:nvPr/>
        </p:nvSpPr>
        <p:spPr>
          <a:xfrm>
            <a:off x="2880360" y="4572000"/>
            <a:ext cx="8092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F6875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B.S. Computer Science • Lebanese American University • Arabic / English / French • Remote and cross-border delivery experience</a:t>
            </a:r>
            <a:endParaRPr lang="en-US" sz="12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_full_screen_ultra_high_resolution_abstract_f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736">
              <a:alpha val="70000"/>
            </a:srgbClr>
          </a:solidFill>
          <a:ln w="12700">
            <a:solidFill>
              <a:srgbClr val="04173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5413248" y="292608"/>
            <a:ext cx="384048" cy="64008"/>
          </a:xfrm>
          <a:prstGeom prst="round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11475720" y="2057400"/>
            <a:ext cx="45720" cy="475488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914400" y="20574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3. How I Operate</a:t>
            </a:r>
            <a:endParaRPr lang="en-US" sz="2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My Operating Model (How I Operate)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10817352" y="201168"/>
            <a:ext cx="475488" cy="73152"/>
          </a:xfrm>
          <a:prstGeom prst="roundRect">
            <a:avLst>
              <a:gd name="adj" fmla="val 37500"/>
            </a:avLst>
          </a:prstGeom>
          <a:solidFill>
            <a:srgbClr val="0B0B0B"/>
          </a:solidFill>
          <a:ln w="12700">
            <a:solidFill>
              <a:srgbClr val="0B0B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6547104"/>
            <a:ext cx="11137392" cy="27432"/>
          </a:xfrm>
          <a:prstGeom prst="roundRect">
            <a:avLst>
              <a:gd name="adj" fmla="val 33333"/>
            </a:avLst>
          </a:prstGeom>
          <a:solidFill>
            <a:srgbClr val="D6943C"/>
          </a:solidFill>
          <a:ln w="12700">
            <a:solidFill>
              <a:srgbClr val="D694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85800" y="1234440"/>
            <a:ext cx="2194560" cy="640080"/>
          </a:xfrm>
          <a:prstGeom prst="chevron">
            <a:avLst/>
          </a:prstGeom>
          <a:solidFill>
            <a:srgbClr val="173F73"/>
          </a:solidFill>
          <a:ln w="12700">
            <a:solidFill>
              <a:srgbClr val="173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86968" y="1426464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FFFFF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1. Assess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1764792" y="1901952"/>
            <a:ext cx="0" cy="301752"/>
          </a:xfrm>
          <a:prstGeom prst="line">
            <a:avLst/>
          </a:prstGeom>
          <a:noFill/>
          <a:ln w="16510">
            <a:solidFill>
              <a:srgbClr val="173F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691640" y="2176272"/>
            <a:ext cx="146304" cy="146304"/>
          </a:xfrm>
          <a:prstGeom prst="ellipse">
            <a:avLst/>
          </a:prstGeom>
          <a:solidFill>
            <a:srgbClr val="FFFFFF"/>
          </a:solidFill>
          <a:ln w="16510">
            <a:solidFill>
              <a:srgbClr val="173F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85800" y="2560320"/>
            <a:ext cx="2121408" cy="1325880"/>
          </a:xfrm>
          <a:prstGeom prst="rect">
            <a:avLst/>
          </a:prstGeom>
          <a:solidFill>
            <a:srgbClr val="FBFCFE"/>
          </a:solidFill>
          <a:ln w="11430">
            <a:solidFill>
              <a:srgbClr val="D8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95528" y="2743200"/>
            <a:ext cx="1901952" cy="9326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08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Current stack, delivery bottlenecks, technical debt, risk, team capability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2953512" y="1234440"/>
            <a:ext cx="2194560" cy="640080"/>
          </a:xfrm>
          <a:prstGeom prst="chevron">
            <a:avLst/>
          </a:prstGeom>
          <a:solidFill>
            <a:srgbClr val="0B2C5D"/>
          </a:solidFill>
          <a:ln w="12700">
            <a:solidFill>
              <a:srgbClr val="0B2C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154680" y="1426464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FFFFF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2. Align</a:t>
            </a:r>
            <a:endParaRPr lang="en-US" sz="1320" dirty="0"/>
          </a:p>
        </p:txBody>
      </p:sp>
      <p:sp>
        <p:nvSpPr>
          <p:cNvPr id="14" name="Shape 12"/>
          <p:cNvSpPr/>
          <p:nvPr/>
        </p:nvSpPr>
        <p:spPr>
          <a:xfrm>
            <a:off x="4032504" y="1901952"/>
            <a:ext cx="0" cy="301752"/>
          </a:xfrm>
          <a:prstGeom prst="line">
            <a:avLst/>
          </a:prstGeom>
          <a:noFill/>
          <a:ln w="16510">
            <a:solidFill>
              <a:srgbClr val="0B2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959352" y="2176272"/>
            <a:ext cx="146304" cy="146304"/>
          </a:xfrm>
          <a:prstGeom prst="ellipse">
            <a:avLst/>
          </a:prstGeom>
          <a:solidFill>
            <a:srgbClr val="FFFFFF"/>
          </a:solidFill>
          <a:ln w="16510">
            <a:solidFill>
              <a:srgbClr val="0B2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953512" y="2560320"/>
            <a:ext cx="2121408" cy="1325880"/>
          </a:xfrm>
          <a:prstGeom prst="rect">
            <a:avLst/>
          </a:prstGeom>
          <a:solidFill>
            <a:srgbClr val="FBFCFE"/>
          </a:solidFill>
          <a:ln w="11430">
            <a:solidFill>
              <a:srgbClr val="D8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063240" y="2743200"/>
            <a:ext cx="1901952" cy="9326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08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Business priorities, ownership, roadmap, KPIs, build-vs-buy decisions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5221224" y="1234440"/>
            <a:ext cx="2194560" cy="640080"/>
          </a:xfrm>
          <a:prstGeom prst="chevron">
            <a:avLst/>
          </a:prstGeom>
          <a:solidFill>
            <a:srgbClr val="5B4E9E"/>
          </a:solidFill>
          <a:ln w="12700">
            <a:solidFill>
              <a:srgbClr val="5B4E9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22392" y="1426464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FFFFF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3. Architect</a:t>
            </a:r>
            <a:endParaRPr lang="en-US" sz="1320" dirty="0"/>
          </a:p>
        </p:txBody>
      </p:sp>
      <p:sp>
        <p:nvSpPr>
          <p:cNvPr id="20" name="Shape 18"/>
          <p:cNvSpPr/>
          <p:nvPr/>
        </p:nvSpPr>
        <p:spPr>
          <a:xfrm>
            <a:off x="6300216" y="1901952"/>
            <a:ext cx="0" cy="301752"/>
          </a:xfrm>
          <a:prstGeom prst="line">
            <a:avLst/>
          </a:prstGeom>
          <a:noFill/>
          <a:ln w="16510">
            <a:solidFill>
              <a:srgbClr val="5B4E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227064" y="2176272"/>
            <a:ext cx="146304" cy="146304"/>
          </a:xfrm>
          <a:prstGeom prst="ellipse">
            <a:avLst/>
          </a:prstGeom>
          <a:solidFill>
            <a:srgbClr val="FFFFFF"/>
          </a:solidFill>
          <a:ln w="16510">
            <a:solidFill>
              <a:srgbClr val="5B4E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221224" y="2560320"/>
            <a:ext cx="2121408" cy="1325880"/>
          </a:xfrm>
          <a:prstGeom prst="rect">
            <a:avLst/>
          </a:prstGeom>
          <a:solidFill>
            <a:srgbClr val="FBFCFE"/>
          </a:solidFill>
          <a:ln w="11430">
            <a:solidFill>
              <a:srgbClr val="D8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330952" y="2743200"/>
            <a:ext cx="1901952" cy="9326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08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Target architecture, platform standards, data flows, security guardrails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7488936" y="1234440"/>
            <a:ext cx="2194560" cy="640080"/>
          </a:xfrm>
          <a:prstGeom prst="chevron">
            <a:avLst/>
          </a:prstGeom>
          <a:solidFill>
            <a:srgbClr val="2B6B8E"/>
          </a:solidFill>
          <a:ln w="12700">
            <a:solidFill>
              <a:srgbClr val="2B6B8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690104" y="1426464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FFFFF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4. Execute</a:t>
            </a:r>
            <a:endParaRPr lang="en-US" sz="1320" dirty="0"/>
          </a:p>
        </p:txBody>
      </p:sp>
      <p:sp>
        <p:nvSpPr>
          <p:cNvPr id="26" name="Shape 24"/>
          <p:cNvSpPr/>
          <p:nvPr/>
        </p:nvSpPr>
        <p:spPr>
          <a:xfrm>
            <a:off x="8567928" y="1901952"/>
            <a:ext cx="0" cy="301752"/>
          </a:xfrm>
          <a:prstGeom prst="line">
            <a:avLst/>
          </a:prstGeom>
          <a:noFill/>
          <a:ln w="16510">
            <a:solidFill>
              <a:srgbClr val="2B6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494776" y="2176272"/>
            <a:ext cx="146304" cy="146304"/>
          </a:xfrm>
          <a:prstGeom prst="ellipse">
            <a:avLst/>
          </a:prstGeom>
          <a:solidFill>
            <a:srgbClr val="FFFFFF"/>
          </a:solidFill>
          <a:ln w="16510">
            <a:solidFill>
              <a:srgbClr val="2B6B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7488936" y="2560320"/>
            <a:ext cx="2121408" cy="1325880"/>
          </a:xfrm>
          <a:prstGeom prst="rect">
            <a:avLst/>
          </a:prstGeom>
          <a:solidFill>
            <a:srgbClr val="FBFCFE"/>
          </a:solidFill>
          <a:ln w="11430">
            <a:solidFill>
              <a:srgbClr val="D8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598664" y="2743200"/>
            <a:ext cx="1901952" cy="9326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08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Delivery cadence, reviews, quick wins, release discipline, communication</a:t>
            </a:r>
            <a:endParaRPr lang="en-US" sz="1080" dirty="0"/>
          </a:p>
        </p:txBody>
      </p:sp>
      <p:sp>
        <p:nvSpPr>
          <p:cNvPr id="30" name="Shape 28"/>
          <p:cNvSpPr/>
          <p:nvPr/>
        </p:nvSpPr>
        <p:spPr>
          <a:xfrm>
            <a:off x="9756648" y="1234440"/>
            <a:ext cx="2194560" cy="640080"/>
          </a:xfrm>
          <a:prstGeom prst="chevron">
            <a:avLst/>
          </a:prstGeom>
          <a:solidFill>
            <a:srgbClr val="D6943C"/>
          </a:solidFill>
          <a:ln w="12700">
            <a:solidFill>
              <a:srgbClr val="D694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9957816" y="1426464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FFFFF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5. Scale</a:t>
            </a:r>
            <a:endParaRPr lang="en-US" sz="1320" dirty="0"/>
          </a:p>
        </p:txBody>
      </p:sp>
      <p:sp>
        <p:nvSpPr>
          <p:cNvPr id="32" name="Shape 30"/>
          <p:cNvSpPr/>
          <p:nvPr/>
        </p:nvSpPr>
        <p:spPr>
          <a:xfrm>
            <a:off x="10835640" y="1901952"/>
            <a:ext cx="0" cy="301752"/>
          </a:xfrm>
          <a:prstGeom prst="line">
            <a:avLst/>
          </a:prstGeom>
          <a:noFill/>
          <a:ln w="16510">
            <a:solidFill>
              <a:srgbClr val="D694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10762488" y="2176272"/>
            <a:ext cx="146304" cy="146304"/>
          </a:xfrm>
          <a:prstGeom prst="ellipse">
            <a:avLst/>
          </a:prstGeom>
          <a:solidFill>
            <a:srgbClr val="FFFFFF"/>
          </a:solidFill>
          <a:ln w="16510">
            <a:solidFill>
              <a:srgbClr val="D694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9756648" y="2560320"/>
            <a:ext cx="2121408" cy="1325880"/>
          </a:xfrm>
          <a:prstGeom prst="rect">
            <a:avLst/>
          </a:prstGeom>
          <a:solidFill>
            <a:srgbClr val="FBFCFE"/>
          </a:solidFill>
          <a:ln w="11430">
            <a:solidFill>
              <a:srgbClr val="D8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9866376" y="2743200"/>
            <a:ext cx="1901952" cy="9326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08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Automation, documentation, hiring, monitoring, continuous improvement</a:t>
            </a:r>
            <a:endParaRPr lang="en-US" sz="1080" dirty="0"/>
          </a:p>
        </p:txBody>
      </p:sp>
      <p:sp>
        <p:nvSpPr>
          <p:cNvPr id="37" name="Text 35"/>
          <p:cNvSpPr/>
          <p:nvPr/>
        </p:nvSpPr>
        <p:spPr>
          <a:xfrm>
            <a:off x="960120" y="484632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30" dirty="0">
                <a:solidFill>
                  <a:srgbClr val="5F6875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This is the operating model I would bring into a CTO role: assess fast, align clearly, architect thoughtfully, execute hands-on, and scale with discipline.</a:t>
            </a:r>
            <a:endParaRPr lang="en-US" sz="12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Executive Evidence &amp; Qualifications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10817352" y="201168"/>
            <a:ext cx="475488" cy="73152"/>
          </a:xfrm>
          <a:prstGeom prst="roundRect">
            <a:avLst>
              <a:gd name="adj" fmla="val 37500"/>
            </a:avLst>
          </a:prstGeom>
          <a:solidFill>
            <a:srgbClr val="0B0B0B"/>
          </a:solidFill>
          <a:ln w="12700">
            <a:solidFill>
              <a:srgbClr val="0B0B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6547104"/>
            <a:ext cx="11137392" cy="27432"/>
          </a:xfrm>
          <a:prstGeom prst="roundRect">
            <a:avLst>
              <a:gd name="adj" fmla="val 33333"/>
            </a:avLst>
          </a:prstGeom>
          <a:solidFill>
            <a:srgbClr val="D6943C"/>
          </a:solidFill>
          <a:ln w="12700">
            <a:solidFill>
              <a:srgbClr val="D694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13232" y="1051560"/>
            <a:ext cx="3520440" cy="1938528"/>
          </a:xfrm>
          <a:prstGeom prst="roundRect">
            <a:avLst>
              <a:gd name="adj" fmla="val 2358"/>
            </a:avLst>
          </a:prstGeom>
          <a:solidFill>
            <a:srgbClr val="FFFFFF"/>
          </a:solidFill>
          <a:ln w="11430">
            <a:solidFill>
              <a:srgbClr val="D8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13232" y="1051560"/>
            <a:ext cx="3520440" cy="128016"/>
          </a:xfrm>
          <a:prstGeom prst="rect">
            <a:avLst/>
          </a:prstGeom>
          <a:solidFill>
            <a:srgbClr val="173F73"/>
          </a:solidFill>
          <a:ln w="12700">
            <a:solidFill>
              <a:srgbClr val="173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252728"/>
            <a:ext cx="3300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Delivery &amp; scale</a:t>
            </a:r>
            <a:endParaRPr lang="en-US" sz="1340" dirty="0"/>
          </a:p>
        </p:txBody>
      </p:sp>
      <p:sp>
        <p:nvSpPr>
          <p:cNvPr id="9" name="Text 7"/>
          <p:cNvSpPr/>
          <p:nvPr/>
        </p:nvSpPr>
        <p:spPr>
          <a:xfrm>
            <a:off x="850392" y="1581912"/>
            <a:ext cx="3246120" cy="12801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120+ responsive websites and applications delivered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99% reported user satisfaction across delivered work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10,000+ concurrent-user infrastructure exposure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500+ requests/second API workload exposure</a:t>
            </a:r>
            <a:endParaRPr lang="en-US" sz="1120" dirty="0"/>
          </a:p>
        </p:txBody>
      </p:sp>
      <p:sp>
        <p:nvSpPr>
          <p:cNvPr id="10" name="Shape 8"/>
          <p:cNvSpPr/>
          <p:nvPr/>
        </p:nvSpPr>
        <p:spPr>
          <a:xfrm>
            <a:off x="4334256" y="1051560"/>
            <a:ext cx="3520440" cy="1938528"/>
          </a:xfrm>
          <a:prstGeom prst="roundRect">
            <a:avLst>
              <a:gd name="adj" fmla="val 2358"/>
            </a:avLst>
          </a:prstGeom>
          <a:solidFill>
            <a:srgbClr val="FFFFFF"/>
          </a:solidFill>
          <a:ln w="11430">
            <a:solidFill>
              <a:srgbClr val="D8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334256" y="1051560"/>
            <a:ext cx="3520440" cy="128016"/>
          </a:xfrm>
          <a:prstGeom prst="rect">
            <a:avLst/>
          </a:prstGeom>
          <a:solidFill>
            <a:srgbClr val="0B2C5D"/>
          </a:solidFill>
          <a:ln w="12700">
            <a:solidFill>
              <a:srgbClr val="0B2C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443984" y="1252728"/>
            <a:ext cx="3300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Growth &amp; performance</a:t>
            </a:r>
            <a:endParaRPr lang="en-US" sz="1340" dirty="0"/>
          </a:p>
        </p:txBody>
      </p:sp>
      <p:sp>
        <p:nvSpPr>
          <p:cNvPr id="13" name="Text 11"/>
          <p:cNvSpPr/>
          <p:nvPr/>
        </p:nvSpPr>
        <p:spPr>
          <a:xfrm>
            <a:off x="4471416" y="1581912"/>
            <a:ext cx="3246120" cy="12801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Landing pages generating 7,000 new leads per month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Average 38% landing-page conversion performance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56% web traffic lift through SEO execution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80+ business metrics represented in dashboard work</a:t>
            </a:r>
            <a:endParaRPr lang="en-US" sz="1120" dirty="0"/>
          </a:p>
        </p:txBody>
      </p:sp>
      <p:sp>
        <p:nvSpPr>
          <p:cNvPr id="14" name="Shape 12"/>
          <p:cNvSpPr/>
          <p:nvPr/>
        </p:nvSpPr>
        <p:spPr>
          <a:xfrm>
            <a:off x="7955280" y="1051560"/>
            <a:ext cx="3520440" cy="1938528"/>
          </a:xfrm>
          <a:prstGeom prst="roundRect">
            <a:avLst>
              <a:gd name="adj" fmla="val 2358"/>
            </a:avLst>
          </a:prstGeom>
          <a:solidFill>
            <a:srgbClr val="FFFFFF"/>
          </a:solidFill>
          <a:ln w="11430">
            <a:solidFill>
              <a:srgbClr val="D8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955280" y="1051560"/>
            <a:ext cx="3520440" cy="128016"/>
          </a:xfrm>
          <a:prstGeom prst="rect">
            <a:avLst/>
          </a:prstGeom>
          <a:solidFill>
            <a:srgbClr val="D6943C"/>
          </a:solidFill>
          <a:ln w="12700">
            <a:solidFill>
              <a:srgbClr val="D694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065008" y="1252728"/>
            <a:ext cx="3300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Leadership signals</a:t>
            </a:r>
            <a:endParaRPr lang="en-US" sz="1340" dirty="0"/>
          </a:p>
        </p:txBody>
      </p:sp>
      <p:sp>
        <p:nvSpPr>
          <p:cNvPr id="17" name="Text 15"/>
          <p:cNvSpPr/>
          <p:nvPr/>
        </p:nvSpPr>
        <p:spPr>
          <a:xfrm>
            <a:off x="8092440" y="1581912"/>
            <a:ext cx="3246120" cy="12801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Mentored and led 3 junior developers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End-to-end ownership from concept to deployment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Cross-border delivery for enterprise and regional clients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Comfort with architecture, delivery, and stakeholder communication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914400" y="3429000"/>
            <a:ext cx="10241280" cy="1417320"/>
          </a:xfrm>
          <a:prstGeom prst="roundRect">
            <a:avLst>
              <a:gd name="adj" fmla="val 3871"/>
            </a:avLst>
          </a:prstGeom>
          <a:solidFill>
            <a:srgbClr val="FAFBFD"/>
          </a:solidFill>
          <a:ln w="12700">
            <a:solidFill>
              <a:srgbClr val="D7DE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822192" y="361188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40" b="1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Why this translates into CTO readiness</a:t>
            </a:r>
            <a:endParaRPr lang="en-US" sz="1440" dirty="0"/>
          </a:p>
        </p:txBody>
      </p:sp>
      <p:sp>
        <p:nvSpPr>
          <p:cNvPr id="20" name="Text 18"/>
          <p:cNvSpPr/>
          <p:nvPr/>
        </p:nvSpPr>
        <p:spPr>
          <a:xfrm>
            <a:off x="1170432" y="3977640"/>
            <a:ext cx="969264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Strong engineering foundation with architecture, APIs, performance, security, and delivery experience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Business-facing mindset shaped by conversion, SEO, dashboarding, and cross-functional execution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Cross-industry exposure reduces dependency on a single domain and improves decision quality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Build-first profile suited to startups, scale-ups, and digital transformation environments that need a practical CTO</a:t>
            </a:r>
            <a:endParaRPr lang="en-US" sz="11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Let’s Connect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10817352" y="201168"/>
            <a:ext cx="475488" cy="73152"/>
          </a:xfrm>
          <a:prstGeom prst="roundRect">
            <a:avLst>
              <a:gd name="adj" fmla="val 37500"/>
            </a:avLst>
          </a:prstGeom>
          <a:solidFill>
            <a:srgbClr val="0B0B0B"/>
          </a:solidFill>
          <a:ln w="12700">
            <a:solidFill>
              <a:srgbClr val="0B0B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6547104"/>
            <a:ext cx="11137392" cy="27432"/>
          </a:xfrm>
          <a:prstGeom prst="roundRect">
            <a:avLst>
              <a:gd name="adj" fmla="val 33333"/>
            </a:avLst>
          </a:prstGeom>
          <a:solidFill>
            <a:srgbClr val="D6943C"/>
          </a:solidFill>
          <a:ln w="12700">
            <a:solidFill>
              <a:srgbClr val="D694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77240" y="1051560"/>
            <a:ext cx="2880360" cy="4480560"/>
          </a:xfrm>
          <a:prstGeom prst="roundRect">
            <a:avLst>
              <a:gd name="adj" fmla="val 1905"/>
            </a:avLst>
          </a:prstGeom>
          <a:solidFill>
            <a:srgbClr val="F6F8FB"/>
          </a:solidFill>
          <a:ln w="12700">
            <a:solidFill>
              <a:srgbClr val="D8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41832" y="1261872"/>
            <a:ext cx="2542032" cy="254203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41832" y="3968496"/>
            <a:ext cx="2542032" cy="18288"/>
          </a:xfrm>
          <a:prstGeom prst="rect">
            <a:avLst/>
          </a:prstGeom>
          <a:solidFill>
            <a:srgbClr val="D6943C"/>
          </a:solidFill>
          <a:ln w="12700">
            <a:solidFill>
              <a:srgbClr val="D6943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005840" y="4160520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41736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Omar Saab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41832" y="450799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0" dirty="0">
                <a:solidFill>
                  <a:srgbClr val="5F6875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CTO candidate • Full-stack technology leader</a:t>
            </a:r>
            <a:endParaRPr lang="en-US" sz="1060" dirty="0"/>
          </a:p>
        </p:txBody>
      </p:sp>
      <p:sp>
        <p:nvSpPr>
          <p:cNvPr id="11" name="Text 8"/>
          <p:cNvSpPr/>
          <p:nvPr/>
        </p:nvSpPr>
        <p:spPr>
          <a:xfrm>
            <a:off x="4160520" y="141732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Ready to help a company scale its product, platform, and engineering organization with clarity, speed, and technical rigor.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4187952" y="2267712"/>
            <a:ext cx="6172200" cy="0"/>
          </a:xfrm>
          <a:prstGeom prst="line">
            <a:avLst/>
          </a:prstGeom>
          <a:noFill/>
          <a:ln w="12700">
            <a:solidFill>
              <a:srgbClr val="D8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297680" y="2560320"/>
            <a:ext cx="393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41736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Website:  https://omarsaab.net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41736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Email:     omar.saab.96@gmail.com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41736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Phone:     +961 70 433863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41736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LinkedIn:  linkedin.com/in/omarsaab96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41736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Location:  Beirut, Lebanon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549640" y="2560320"/>
            <a:ext cx="2377440" cy="2011680"/>
          </a:xfrm>
          <a:prstGeom prst="roundRect">
            <a:avLst>
              <a:gd name="adj" fmla="val 2727"/>
            </a:avLst>
          </a:prstGeom>
          <a:solidFill>
            <a:srgbClr val="F6F8FB"/>
          </a:solidFill>
          <a:ln w="12700">
            <a:solidFill>
              <a:srgbClr val="D8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823960" y="27889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Best fit for</a:t>
            </a:r>
            <a:endParaRPr lang="en-US" sz="1280" dirty="0"/>
          </a:p>
        </p:txBody>
      </p:sp>
      <p:sp>
        <p:nvSpPr>
          <p:cNvPr id="16" name="Text 13"/>
          <p:cNvSpPr/>
          <p:nvPr/>
        </p:nvSpPr>
        <p:spPr>
          <a:xfrm>
            <a:off x="8759952" y="3154680"/>
            <a:ext cx="192024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buNone/>
            </a:pPr>
            <a:r>
              <a:rPr lang="en-US" sz="116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Scale-ups</a:t>
            </a: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Founder-led companies</a:t>
            </a: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Product teams</a:t>
            </a: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1F1F1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✓ Digital transformation</a:t>
            </a:r>
            <a:endParaRPr lang="en-US" sz="1160" dirty="0"/>
          </a:p>
        </p:txBody>
      </p:sp>
      <p:sp>
        <p:nvSpPr>
          <p:cNvPr id="17" name="Text 14"/>
          <p:cNvSpPr/>
          <p:nvPr/>
        </p:nvSpPr>
        <p:spPr>
          <a:xfrm>
            <a:off x="4187952" y="491947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F6875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Thank you for your time.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_wide_abstract_futuristic_technology_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736">
              <a:alpha val="66000"/>
            </a:srgbClr>
          </a:solidFill>
          <a:ln w="12700">
            <a:solidFill>
              <a:srgbClr val="04173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3657600" y="29718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Thank you!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2377440" y="365760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dirty="0">
                <a:solidFill>
                  <a:srgbClr val="E7EEF8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Technology leadership is most valuable when it turns business vision into scalable execution.</a:t>
            </a:r>
            <a:endParaRPr lang="en-US" sz="1320" dirty="0"/>
          </a:p>
        </p:txBody>
      </p:sp>
      <p:sp>
        <p:nvSpPr>
          <p:cNvPr id="8" name="Text 5"/>
          <p:cNvSpPr/>
          <p:nvPr/>
        </p:nvSpPr>
        <p:spPr>
          <a:xfrm>
            <a:off x="2880360" y="5577840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80" dirty="0">
                <a:solidFill>
                  <a:srgbClr val="E7EEF8"/>
                </a:solidFill>
                <a:latin typeface="Akatab" pitchFamily="34" charset="0"/>
                <a:ea typeface="Akatab" pitchFamily="34" charset="-122"/>
                <a:cs typeface="Akatab" pitchFamily="34" charset="-120"/>
              </a:rPr>
              <a:t>Omar Saab • omarsaab.net • omar.saab.96@gmail.com</a:t>
            </a:r>
            <a:endParaRPr lang="en-US" sz="10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katab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katab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1817</Words>
  <Application>Microsoft Office PowerPoint</Application>
  <PresentationFormat>Widescreen</PresentationFormat>
  <Paragraphs>235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Akatab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Omar Saab | CTO Portfolio</dc:title>
  <dc:subject>Omar Saab CTO Portfolio</dc:subject>
  <dc:creator>OpenAI</dc:creator>
  <cp:lastModifiedBy>Omar Saab</cp:lastModifiedBy>
  <cp:revision>4</cp:revision>
  <dcterms:created xsi:type="dcterms:W3CDTF">2026-03-23T17:03:05Z</dcterms:created>
  <dcterms:modified xsi:type="dcterms:W3CDTF">2026-03-23T21:45:06Z</dcterms:modified>
</cp:coreProperties>
</file>